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737642a535948f5" /><Relationship Type="http://schemas.openxmlformats.org/officeDocument/2006/relationships/extended-properties" Target="/docProps/app.xml" Id="R529951bcc6c5420a" /><Relationship Type="http://schemas.openxmlformats.org/officeDocument/2006/relationships/officeDocument" Target="/ppt/presentation.xml" Id="Rcdf5addc652e43d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9598efef5d3473c"/>
  </p:sldMasterIdLst>
  <p:notesMasterIdLst>
    <p:notesMasterId xmlns:r="http://schemas.openxmlformats.org/officeDocument/2006/relationships" r:id="R8986509355324552"/>
  </p:notesMasterIdLst>
  <p:sldIdLst>
    <p:sldId xmlns:r="http://schemas.openxmlformats.org/officeDocument/2006/relationships" id="256" r:id="Rcc42fae0c79e45d3"/>
    <p:sldId xmlns:r="http://schemas.openxmlformats.org/officeDocument/2006/relationships" id="257" r:id="Ree3f13d7b82d469b"/>
    <p:sldId xmlns:r="http://schemas.openxmlformats.org/officeDocument/2006/relationships" id="258" r:id="R12a0adddf91a45dd"/>
    <p:sldId xmlns:r="http://schemas.openxmlformats.org/officeDocument/2006/relationships" id="259" r:id="R75effaac78bb4cd8"/>
    <p:sldId xmlns:r="http://schemas.openxmlformats.org/officeDocument/2006/relationships" id="260" r:id="R253e30b25e004ae9"/>
    <p:sldId xmlns:r="http://schemas.openxmlformats.org/officeDocument/2006/relationships" id="261" r:id="Rdb81df65fe37418c"/>
    <p:sldId xmlns:r="http://schemas.openxmlformats.org/officeDocument/2006/relationships" id="262" r:id="Rac0619df4ce9472c"/>
    <p:sldId xmlns:r="http://schemas.openxmlformats.org/officeDocument/2006/relationships" id="263" r:id="Rb7a6d53fff874355"/>
    <p:sldId xmlns:r="http://schemas.openxmlformats.org/officeDocument/2006/relationships" id="264" r:id="Rda8345596806467b"/>
    <p:sldId xmlns:r="http://schemas.openxmlformats.org/officeDocument/2006/relationships" id="265" r:id="R9c7470ee49c14a48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e32c940b7524e04" /><Relationship Type="http://schemas.openxmlformats.org/officeDocument/2006/relationships/slideMaster" Target="/ppt/slideMasters/slideMaster1.xml" Id="R49598efef5d3473c" /><Relationship Type="http://schemas.openxmlformats.org/officeDocument/2006/relationships/notesMaster" Target="/ppt/notesMasters/notesMaster1.xml" Id="R8986509355324552" /><Relationship Type="http://schemas.openxmlformats.org/officeDocument/2006/relationships/presProps" Target="/ppt/presProps.xml" Id="Rba31ef8cd2b843d9" /><Relationship Type="http://schemas.openxmlformats.org/officeDocument/2006/relationships/tableStyles" Target="/ppt/tableStyles.xml" Id="Reae32d184e854d23" /><Relationship Type="http://schemas.openxmlformats.org/officeDocument/2006/relationships/slide" Target="/ppt/slides/slide1.xml" Id="Rcc42fae0c79e45d3" /><Relationship Type="http://schemas.openxmlformats.org/officeDocument/2006/relationships/slide" Target="/ppt/slides/slide2.xml" Id="Ree3f13d7b82d469b" /><Relationship Type="http://schemas.openxmlformats.org/officeDocument/2006/relationships/slide" Target="/ppt/slides/slide3.xml" Id="R12a0adddf91a45dd" /><Relationship Type="http://schemas.openxmlformats.org/officeDocument/2006/relationships/slide" Target="/ppt/slides/slide4.xml" Id="R75effaac78bb4cd8" /><Relationship Type="http://schemas.openxmlformats.org/officeDocument/2006/relationships/slide" Target="/ppt/slides/slide5.xml" Id="R253e30b25e004ae9" /><Relationship Type="http://schemas.openxmlformats.org/officeDocument/2006/relationships/slide" Target="/ppt/slides/slide6.xml" Id="Rdb81df65fe37418c" /><Relationship Type="http://schemas.openxmlformats.org/officeDocument/2006/relationships/slide" Target="/ppt/slides/slide7.xml" Id="Rac0619df4ce9472c" /><Relationship Type="http://schemas.openxmlformats.org/officeDocument/2006/relationships/slide" Target="/ppt/slides/slide8.xml" Id="Rb7a6d53fff874355" /><Relationship Type="http://schemas.openxmlformats.org/officeDocument/2006/relationships/slide" Target="/ppt/slides/slide9.xml" Id="Rda8345596806467b" /><Relationship Type="http://schemas.openxmlformats.org/officeDocument/2006/relationships/slide" Target="/ppt/slides/slide10.xml" Id="R9c7470ee49c14a4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9894a0da9d842e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19cdcb0e5c44fb9" /><Relationship Type="http://schemas.openxmlformats.org/officeDocument/2006/relationships/notesMaster" Target="/ppt/notesMasters/notesMaster1.xml" Id="R34c71f95a3c64f8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25bce1aa64c44cc" /><Relationship Type="http://schemas.openxmlformats.org/officeDocument/2006/relationships/notesMaster" Target="/ppt/notesMasters/notesMaster1.xml" Id="R28488110d88d421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315924d8b6344ca" /><Relationship Type="http://schemas.openxmlformats.org/officeDocument/2006/relationships/notesMaster" Target="/ppt/notesMasters/notesMaster1.xml" Id="Rfacedf0f80e64b8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0bdf3d475644466" /><Relationship Type="http://schemas.openxmlformats.org/officeDocument/2006/relationships/notesMaster" Target="/ppt/notesMasters/notesMaster1.xml" Id="R52b7ef4c3f2f434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09acb2d234b4c9d" /><Relationship Type="http://schemas.openxmlformats.org/officeDocument/2006/relationships/notesMaster" Target="/ppt/notesMasters/notesMaster1.xml" Id="R528f3b44081041e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e05804359934a51" /><Relationship Type="http://schemas.openxmlformats.org/officeDocument/2006/relationships/notesMaster" Target="/ppt/notesMasters/notesMaster1.xml" Id="Re758cc876f3d43b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af82bee49704ce9" /><Relationship Type="http://schemas.openxmlformats.org/officeDocument/2006/relationships/notesMaster" Target="/ppt/notesMasters/notesMaster1.xml" Id="Re81766a0dbae438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77bf6bf83e4425d" /><Relationship Type="http://schemas.openxmlformats.org/officeDocument/2006/relationships/notesMaster" Target="/ppt/notesMasters/notesMaster1.xml" Id="Rf868cd57d47b488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8ade42beeeb41d5" /><Relationship Type="http://schemas.openxmlformats.org/officeDocument/2006/relationships/notesMaster" Target="/ppt/notesMasters/notesMaster1.xml" Id="R144b899d820341a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37a19152317456c" /><Relationship Type="http://schemas.openxmlformats.org/officeDocument/2006/relationships/notesMaster" Target="/ppt/notesMasters/notesMaster1.xml" Id="R09f752da43dd4a9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体育产业项目 V0.53</a:t>
            </a:r>
          </a:p>
          <a:p xmlns:a="http://schemas.openxmlformats.org/drawingml/2006/main">
            <a:r>
              <a:t>城市体育智能服务体系建设方案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本页合并项目定义、外部窗口与保定基础。先定义项目：在既有体育数字基础之上建设服务组织能力。具体背景数据放入配套说明材料，沟通中以体育局掌握的最新本地口径为准。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国家统计局、国家体育总局：2024年全国体育产业总规模与增加值数据公告，2025-12-31。https://www.stats.gov.cn/sj/zxfb/202512/t20251231_1962228.html</a:t>
            </a:r>
          </a:p>
          <a:p xmlns:a="http://schemas.openxmlformats.org/drawingml/2006/main">
            <a:r>
              <a:t>国家体育总局：促进体育消费和赛事经济试点工作通知，2025-04-02。https://www.sport.gov.cn/jjs/n5039/c28612864/content.html</a:t>
            </a:r>
          </a:p>
          <a:p xmlns:a="http://schemas.openxmlformats.org/drawingml/2006/main">
            <a:r>
              <a:t>中国政府网：从五方面持续推动赛事经济发展，2025-09-09。https://www.gov.cn/zccfh/2025zccfh/20250909/jdzc/202509/content_7039950.htm</a:t>
            </a:r>
          </a:p>
          <a:p xmlns:a="http://schemas.openxmlformats.org/drawingml/2006/main">
            <a:r>
              <a:t>国家体育总局：河北保定——让运动风尚洋溢保定的每个角落。https://www.sport.gov.cn/n20001280/n20001265/n20067533/c25109850/content.html</a:t>
            </a:r>
          </a:p>
          <a:p xmlns:a="http://schemas.openxmlformats.org/drawingml/2006/main">
            <a:r>
              <a:t>河北省体育局：保定实现四级公共健身设施和社区“15分钟健身圈”全覆盖，2024-08-29。https://sport.hebei.gov.cn/quanminjianshenzhinan/2024/0829/25613.html</a:t>
            </a:r>
          </a:p>
          <a:p xmlns:a="http://schemas.openxmlformats.org/drawingml/2006/main">
            <a:r>
              <a:t>保定市政府：保定马拉松赛事直接带动综合消费2.98亿元，2026-04-28，初步统计。https://www.baoding.gov.cn/contentForOld-381-539125.html</a:t>
            </a:r>
          </a:p>
          <a:p xmlns:a="http://schemas.openxmlformats.org/drawingml/2006/main">
            <a:r>
              <a:t>河北省体育局：“太行极境”山地户外运动目的地，2026-04-10。https://sport.hebei.gov.cn/m/view.php?aid=31256</a:t>
            </a:r>
          </a:p>
          <a:p xmlns:a="http://schemas.openxmlformats.org/drawingml/2006/main">
            <a:r>
              <a:t>国家体育总局：《2025年全民健身活动状况调查公报》发布，全国口径。https://www.sport.gov.cn/n20001280/n20745751/c29327174/content.html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第4、5、6页合并。AI能力对比覆盖群众、经营与服务主体、运营与管理主体。六类核心能力作为三类对象的共性能力保留。上述为拟建设的能力差异，不表示首批已全部具备。具体实现依赖规则、工具接入、数据授权和人工确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总体架构为长期目标，按业务逐步落地。N统一为N项赛事活动，不再以N项运动作为应用层名称。运动项目规则可以作为赛事活动配置的一部分，详见配套说明材料。赛事OS管理真实业务状态，Agent在授权范围内调用业务能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此页保留为目标技术架构。底部列出后续支撑观点所需的项目实证，不表示已经完成验证。待补充材料包括：知识检索与规则引用样例、真实接口调用及状态回写记录、权限拒绝和审计记录、公有/私有模型路由与数据边界方案。具体证据清单在配套说明材料中维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补充年度运营抓手：维护赛事日历与主题季，组织获授权的内容和社群服务，记录复参与权益履约。赛后异常、投诉和申诉由对应业务责任人处理，平台留存过程和结果。参考用户提供的战略合作整体方案第06、07部分；属于待实施建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展示以一场城市周末赛事为牵引的目标协同流程，覆盖办赛组织、参与者服务、周边文旅三条任务链。四个阶段为提出需求、匹配与确认、到场与履约、反馈与再服务。每个格子区分人的动作和平台的动作，各主体在同一活动上下文中协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办赛组织：主办方提出规则和资源条件，办赛Agent梳理约束，场馆OS提供可用资源，编排Agent形成方案和赛程；主办确认后，赛事OS承接配置、报名与赛况状态。裁判和组织者负责执裁、现场异常和结果确认。平台辅助通知、记录与复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与者：参赛者、观众及陪同家庭提出活动目标、同行情况、时间与出行偏好。用户OS连接其身份和参与记录；平台理解需求、说明赛事规则，整合报名、赛程、交通与周边服务建议。用户自主确认报名和预约，平台辅助提醒、到场指引、赛况查询及后续活动推荐。需要支付、发布或变更既有安排时，由对应主体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周边文旅：景区、餐饮、住宿等服务方提供营业时间、可用名额、价格与预约规则。平台结合赛程、地理距离和用户偏好匹配服务，形成可选择的行程建议；用户选择后，由商户确认预约并承担实际接待与服务。平台通过已有或约定接口获取预约、核销及履约状态，异常交由相应服务方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跨角色联动例子：赛事时间变化后，赛事OS同步经确认的新赛程；平台识别受影响且已授权关联的参与者与预约，向用户发送提醒，并向相关服务方发起调整请求。用户和商户确认后再更新安排，记录结果及异常。不能把建议、通知或调整请求表述成预约已自动成功；不支持接口的环节由人工衔接并记录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底层由办赛、编排与执裁、内容、训练与指导、运营增长、治理与报表等Agent按任务分工，连接赛事OS、场馆OS、用户OS和授权的外部服务。具体Agent组合按实际任务配置，图中不表示每个环节均调用全部Agent。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为目标协同场景，按后续阶段逐步建设，首批交付范围仍以第07页的赛事报名闭环为准。效果指标按三条链分别记录：办赛人工总工时、复核与返工；参与者报名、到场和服务完成情况；周边服务有效预约、实际履约、取消与反馈。当前均待实测，不预设提效比例或消费增量，不将周边交易额作为平台收入。人工工时包含输入整理、执行、复核、现场工作和返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在原有赛事服务、场馆机构服务和文旅协同基础上，吸收战略合作整体方案中的年度赛事组合、品牌赞助与标准权益、企业及职工赛事、代运营方向。以上均为待验证经营方式，不表示已取得经营授权或已签约。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赛事代运营需说明方案、报名、现场和复盘中具体承接哪些工作。品牌合作先确认品牌与商业权益的权利人及授权范围，再约定展示、内容、现场活动等服务，保留交付记录并完成验收。年度赛事产品需要赛事日历、执行资源和运营人员支持，不能仅把名称组合即承诺全年交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报名费、赞助款、商户交易和平台技术或运营服务收入须分别确认收取主体、交付责任及结算依据。核算同一业务和期间的收入与可归属成本，再计入共同研发、运维、管理及获客成本；收款与履约时间不一致时，现金收支单独观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共与市场服务分层明确服务标准、合同和成本。首期如涉及收费，应在试点启动前确认必要授权、收费主体、履约与结算规则。长期收益分配和复制安排依据运行证据进一步讨论。当前不固定佣金、订阅价格、GMV或收入预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补充参考：用户提供《保定市体育赛事数字化运营平台战略合作整体方案》第07、09、10部分，作为方案建议来源，不作为已签合作或经营效果证明。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首批交付目标日期仍为2026年10月15日。闭环中的结果查询是报名结果查询，不能解读为首批已覆盖比赛成绩和完整执裁能力。底座在本期沉淀赛事报名场景需要的身份、权限、业务模型、接口与日志基础，不表示长期数字底座的全部模块已经建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已知首批交付日期为2026年10月15日，用户明确其余日期尚未确定，可按3个月为基础单位。后续时间为建议节奏，不是承诺工期；资源、接口、预算和团队条件需要共同确认。首批数字底座先满足报名业务，后续补齐知识与规则、工具编排、资源服务目录与AI治理。每阶段由专项项目明确范围、周期、经费、验收和责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保持P0/P1/P2及体育局、文化发展平台的资源配合主线，补充三方明确职责。文化发展平台或其拟定运营主体承担哪些市场运营、招商、赛事执行、客户服务和结算工作，需根据实际授权确认，不把参考文档所称文发体育公司直接作为已确定主体。技术方负责产品、接口、数据治理、AI、运维与迭代，具体责任按专项项目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0应落实首期必要责任和投入：首场赛事、牵头与运营负责人、规则、首批建设范围、数据和品牌授权路径、运行条件、验收。试点涉及收费时，需要明确收取主体、必要授权、履约和结算规则，不能全部推迟到P2。P1组织资源清单、年度赛事日历、人员试用、权益履约和效果记录。P2再根据试点讨论长期运营、收益分配、知识产权、复制和退出；首期必要的权利与服务责任应在P0先行明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部署条件先盘点，按方案确认服务器、网络、设备和运行保障需求，不提前形成固定硬件采购承诺。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次会议建议形成试点赛事、牵头与运营主体、首期投入、授权路径和验收评审机制的共识，未确认事项进入责任清单。仍保留2026年10月15日首批目标及后续三个月建议阶段，不采用参考文档中的另一个90天排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补充参考：用户提供《保定市体育赛事数字化运营平台战略合作整体方案》第10部分，作为拟议合作机制，不作为已签协议。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464ae38982403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7e9ddb83b8047ef" /><Relationship Type="http://schemas.openxmlformats.org/officeDocument/2006/relationships/slideLayout" Target="/ppt/slideLayouts/slideLayout1.xml" Id="R90de58f62a4c450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0de58f62a4c450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b7acb0f15f4b75" /><Relationship Type="http://schemas.openxmlformats.org/officeDocument/2006/relationships/notesSlide" Target="/ppt/notesSlides/notesSlide1.xml" Id="R45cbbba3bce94e2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bfc9dbf7a94ddc" /><Relationship Type="http://schemas.openxmlformats.org/officeDocument/2006/relationships/notesSlide" Target="/ppt/notesSlides/notesSlide2.xml" Id="R6ae5957726aa45c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29e699cc744d67" /><Relationship Type="http://schemas.openxmlformats.org/officeDocument/2006/relationships/notesSlide" Target="/ppt/notesSlides/notesSlide3.xml" Id="R30334bbe0ee2456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0ef0fdd5eb427d" /><Relationship Type="http://schemas.openxmlformats.org/officeDocument/2006/relationships/notesSlide" Target="/ppt/notesSlides/notesSlide4.xml" Id="Re1b73e7f4139477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f4703402e743e2" /><Relationship Type="http://schemas.openxmlformats.org/officeDocument/2006/relationships/notesSlide" Target="/ppt/notesSlides/notesSlide5.xml" Id="Rd64a6d4516f1406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d38b8810344d29" /><Relationship Type="http://schemas.openxmlformats.org/officeDocument/2006/relationships/notesSlide" Target="/ppt/notesSlides/notesSlide6.xml" Id="R05d8507e5ecb45b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f4c2c3d61649e4" /><Relationship Type="http://schemas.openxmlformats.org/officeDocument/2006/relationships/notesSlide" Target="/ppt/notesSlides/notesSlide7.xml" Id="R742c6d156318406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ec9207cb1a43fc" /><Relationship Type="http://schemas.openxmlformats.org/officeDocument/2006/relationships/notesSlide" Target="/ppt/notesSlides/notesSlide8.xml" Id="R2ebbe1eadb99400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105bb8c53e4959" /><Relationship Type="http://schemas.openxmlformats.org/officeDocument/2006/relationships/notesSlide" Target="/ppt/notesSlides/notesSlide9.xml" Id="R5b16aa9892764be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c24d88ac344f51" /><Relationship Type="http://schemas.openxmlformats.org/officeDocument/2006/relationships/notesSlide" Target="/ppt/notesSlides/notesSlide10.xml" Id="R250ad213e491444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F5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1">
            <a:extLst xmlns:a="http://schemas.openxmlformats.org/drawingml/2006/main">
              <a:ext uri="{FF2B5EF4-FFF2-40B4-BE49-F238E27FC236}">
                <a16:creationId xmlns:a16="http://schemas.microsoft.com/office/drawing/2014/main" id="{FA70CC66-3660-4D56-809E-D245233BF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90575"/>
            <a:ext cx="1333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94B7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94B7D0"/>
                </a:solidFill>
                <a:latin typeface="Microsoft YaHei"/>
                <a:ea typeface="Microsoft YaHei"/>
                <a:cs typeface="Microsoft YaHei"/>
              </a:rPr>
              <a:t>保定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BAA2D950-57AA-4FD7-BF1B-5752D0322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33625"/>
            <a:ext cx="13430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体育产业项目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4D649DBC-5C23-43F0-B55F-231A24982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14750"/>
            <a:ext cx="1343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城市体育智能服务体系建设方案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D324C22E-964F-4814-9277-89E5F9DE3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48250"/>
            <a:ext cx="1352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BCCFD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BCCFDF"/>
                </a:solidFill>
                <a:latin typeface="Microsoft YaHei"/>
                <a:ea typeface="Microsoft YaHei"/>
                <a:cs typeface="Microsoft YaHei"/>
              </a:rPr>
              <a:t>公共体育服务  /  真实体育业务  /  AI增量能力  /  可持续运营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BC069BD4-8AA9-4620-9F85-468397D60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2771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CCFD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BCCFDF"/>
                </a:solidFill>
                <a:latin typeface="Microsoft YaHei"/>
                <a:ea typeface="Microsoft YaHei"/>
                <a:cs typeface="Microsoft YaHei"/>
              </a:rPr>
              <a:t>汇报版 V0.53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17258881-599A-4995-BC37-6F314827B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727710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BCCFD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BCCFDF"/>
                </a:solidFill>
                <a:latin typeface="Microsoft YaHei"/>
                <a:ea typeface="Microsoft YaHei"/>
                <a:cs typeface="Microsoft YaHei"/>
              </a:rPr>
              <a:t>2026年9月</a:t>
            </a:r>
          </a:p>
        </p:txBody>
      </p:sp>
    </p:spTree>
    <p:extLst>
      <p:ext uri="{BB962C8B-B14F-4D97-AF65-F5344CB8AC3E}">
        <p14:creationId xmlns:p14="http://schemas.microsoft.com/office/powerpoint/2010/main" val="2574360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ext-7">
            <a:extLst xmlns:a="http://schemas.openxmlformats.org/drawingml/2006/main">
              <a:ext uri="{FF2B5EF4-FFF2-40B4-BE49-F238E27FC236}">
                <a16:creationId xmlns:a16="http://schemas.microsoft.com/office/drawing/2014/main" id="{84DEEF8E-DFF2-47B4-AC76-C188F1A6E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9575"/>
            <a:ext cx="76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84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847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" name="text-8">
            <a:extLst xmlns:a="http://schemas.openxmlformats.org/drawingml/2006/main">
              <a:ext uri="{FF2B5EF4-FFF2-40B4-BE49-F238E27FC236}">
                <a16:creationId xmlns:a16="http://schemas.microsoft.com/office/drawing/2014/main" id="{81046CA8-631C-464C-8C88-AC58222A7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85825"/>
            <a:ext cx="13982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42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42F50"/>
                </a:solidFill>
                <a:latin typeface="Microsoft YaHei"/>
                <a:ea typeface="Microsoft YaHei"/>
                <a:cs typeface="Microsoft YaHei"/>
              </a:rPr>
              <a:t>城市体育智能服务体系</a:t>
            </a:r>
          </a:p>
        </p:txBody>
      </p:sp>
      <p:sp>
        <p:nvSpPr>
          <p:cNvPr id="3" name="text-9">
            <a:extLst xmlns:a="http://schemas.openxmlformats.org/drawingml/2006/main">
              <a:ext uri="{FF2B5EF4-FFF2-40B4-BE49-F238E27FC236}">
                <a16:creationId xmlns:a16="http://schemas.microsoft.com/office/drawing/2014/main" id="{07A83132-05D8-4C57-A2BA-FA6979E13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95450"/>
            <a:ext cx="1381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275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27587"/>
                </a:solidFill>
                <a:latin typeface="Microsoft YaHei"/>
                <a:ea typeface="Microsoft YaHei"/>
                <a:cs typeface="Microsoft YaHei"/>
              </a:rPr>
              <a:t>立足保定真实赛事与场馆资源，用AI提升服务组织能力，形成持续运营机制</a:t>
            </a:r>
          </a:p>
        </p:txBody>
      </p:sp>
      <p:sp>
        <p:nvSpPr>
          <p:cNvPr id="4" name="text-10">
            <a:extLst xmlns:a="http://schemas.openxmlformats.org/drawingml/2006/main">
              <a:ext uri="{FF2B5EF4-FFF2-40B4-BE49-F238E27FC236}">
                <a16:creationId xmlns:a16="http://schemas.microsoft.com/office/drawing/2014/main" id="{2DE302F7-5975-4487-BAFF-456BD20D7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12482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5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587"/>
                </a:solidFill>
                <a:latin typeface="Microsoft YaHei"/>
                <a:ea typeface="Microsoft YaHei"/>
                <a:cs typeface="Microsoft YaHei"/>
              </a:rPr>
              <a:t>体育产业项目  V0.53</a:t>
            </a:r>
          </a:p>
        </p:txBody>
      </p:sp>
      <p:sp>
        <p:nvSpPr>
          <p:cNvPr id="5" name="text-11">
            <a:extLst xmlns:a="http://schemas.openxmlformats.org/drawingml/2006/main">
              <a:ext uri="{FF2B5EF4-FFF2-40B4-BE49-F238E27FC236}">
                <a16:creationId xmlns:a16="http://schemas.microsoft.com/office/drawing/2014/main" id="{83D90A1F-AFF5-4CBA-AF25-7EFEBE5CD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05775"/>
            <a:ext cx="704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275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587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text-12">
            <a:extLst xmlns:a="http://schemas.openxmlformats.org/drawingml/2006/main">
              <a:ext uri="{FF2B5EF4-FFF2-40B4-BE49-F238E27FC236}">
                <a16:creationId xmlns:a16="http://schemas.microsoft.com/office/drawing/2014/main" id="{AC5F5733-7749-4851-B569-127CE452E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479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84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847E"/>
                </a:solidFill>
                <a:latin typeface="Microsoft YaHei"/>
                <a:ea typeface="Microsoft YaHei"/>
                <a:cs typeface="Microsoft YaHei"/>
              </a:rPr>
              <a:t>项目定位</a:t>
            </a:r>
          </a:p>
        </p:txBody>
      </p:sp>
      <p:sp>
        <p:nvSpPr>
          <p:cNvPr id="7" name="text-13">
            <a:extLst xmlns:a="http://schemas.openxmlformats.org/drawingml/2006/main">
              <a:ext uri="{FF2B5EF4-FFF2-40B4-BE49-F238E27FC236}">
                <a16:creationId xmlns:a16="http://schemas.microsoft.com/office/drawing/2014/main" id="{57295777-10E1-479A-8E0D-BE8D6DCA9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571750"/>
            <a:ext cx="108585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42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42F50"/>
                </a:solidFill>
                <a:latin typeface="Microsoft YaHei"/>
                <a:ea typeface="Microsoft YaHei"/>
                <a:cs typeface="Microsoft YaHei"/>
              </a:rPr>
              <a:t>连接群众需求、体育经营与公共管理，</a:t>
            </a:r>
          </a:p>
          <a:p xmlns:a="http://schemas.openxmlformats.org/drawingml/2006/main">
            <a:pPr algn="l">
              <a:defRPr sz="2625" b="1">
                <a:solidFill>
                  <a:srgbClr val="142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42F50"/>
                </a:solidFill>
                <a:latin typeface="Microsoft YaHei"/>
                <a:ea typeface="Microsoft YaHei"/>
                <a:cs typeface="Microsoft YaHei"/>
              </a:rPr>
              <a:t>把分散的资源和业务组织为可执行的服务。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1ECE2D-AF65-4E8F-AAA3-E46F4C81F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0"/>
            <a:ext cx="13982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7E0"/>
          </a:solidFill>
          <a:ln xmlns:a="http://schemas.openxmlformats.org/drawingml/2006/main" w="0">
            <a:noFill/>
          </a:ln>
        </p:spPr>
      </p:sp>
      <p:sp>
        <p:nvSpPr>
          <p:cNvPr id="9" name="text-14">
            <a:extLst xmlns:a="http://schemas.openxmlformats.org/drawingml/2006/main">
              <a:ext uri="{FF2B5EF4-FFF2-40B4-BE49-F238E27FC236}">
                <a16:creationId xmlns:a16="http://schemas.microsoft.com/office/drawing/2014/main" id="{C8BB5C55-8957-40BE-943A-8EA34BDBD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91000"/>
            <a:ext cx="25812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2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42F50"/>
                </a:solidFill>
                <a:latin typeface="Microsoft YaHei"/>
                <a:ea typeface="Microsoft YaHei"/>
                <a:cs typeface="Microsoft YaHei"/>
              </a:rPr>
              <a:t>为什么是现在</a:t>
            </a:r>
          </a:p>
        </p:txBody>
      </p:sp>
      <p:sp>
        <p:nvSpPr>
          <p:cNvPr id="10" name="text-15">
            <a:extLst xmlns:a="http://schemas.openxmlformats.org/drawingml/2006/main">
              <a:ext uri="{FF2B5EF4-FFF2-40B4-BE49-F238E27FC236}">
                <a16:creationId xmlns:a16="http://schemas.microsoft.com/office/drawing/2014/main" id="{30C43884-C092-4E5A-A7F9-141B6BCCD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229100"/>
            <a:ext cx="11087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63C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C51"/>
                </a:solidFill>
                <a:latin typeface="Microsoft YaHei"/>
                <a:ea typeface="Microsoft YaHei"/>
                <a:cs typeface="Microsoft YaHei"/>
              </a:rPr>
              <a:t>体育服务升级、赛事消费拓展与“人工智能+”形成发展窗口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0EB705-8F8F-4A63-9485-389B214A4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53000"/>
            <a:ext cx="13982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7E0"/>
          </a:solidFill>
          <a:ln xmlns:a="http://schemas.openxmlformats.org/drawingml/2006/main" w="0">
            <a:noFill/>
          </a:ln>
        </p:spPr>
      </p:sp>
      <p:sp>
        <p:nvSpPr>
          <p:cNvPr id="12" name="text-16">
            <a:extLst xmlns:a="http://schemas.openxmlformats.org/drawingml/2006/main">
              <a:ext uri="{FF2B5EF4-FFF2-40B4-BE49-F238E27FC236}">
                <a16:creationId xmlns:a16="http://schemas.microsoft.com/office/drawing/2014/main" id="{1B7FFD07-3FAE-4D8B-AF9B-20C1CDE95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43500"/>
            <a:ext cx="25812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2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42F50"/>
                </a:solidFill>
                <a:latin typeface="Microsoft YaHei"/>
                <a:ea typeface="Microsoft YaHei"/>
                <a:cs typeface="Microsoft YaHei"/>
              </a:rPr>
              <a:t>为什么是保定</a:t>
            </a:r>
          </a:p>
        </p:txBody>
      </p:sp>
      <p:sp>
        <p:nvSpPr>
          <p:cNvPr id="13" name="text-17">
            <a:extLst xmlns:a="http://schemas.openxmlformats.org/drawingml/2006/main">
              <a:ext uri="{FF2B5EF4-FFF2-40B4-BE49-F238E27FC236}">
                <a16:creationId xmlns:a16="http://schemas.microsoft.com/office/drawing/2014/main" id="{F35629F7-B2B4-45DE-995B-FF5EFDD8D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181600"/>
            <a:ext cx="11087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63C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C51"/>
                </a:solidFill>
                <a:latin typeface="Microsoft YaHei"/>
                <a:ea typeface="Microsoft YaHei"/>
                <a:cs typeface="Microsoft YaHei"/>
              </a:rPr>
              <a:t>已有赛事、场馆、协会和文旅场景，具备真实业务切入条件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13C9B0-2A3D-47CF-808D-766F5BB7F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0"/>
            <a:ext cx="13982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7E0"/>
          </a:solidFill>
          <a:ln xmlns:a="http://schemas.openxmlformats.org/drawingml/2006/main" w="0">
            <a:noFill/>
          </a:ln>
        </p:spPr>
      </p:sp>
      <p:sp>
        <p:nvSpPr>
          <p:cNvPr id="15" name="text-18">
            <a:extLst xmlns:a="http://schemas.openxmlformats.org/drawingml/2006/main">
              <a:ext uri="{FF2B5EF4-FFF2-40B4-BE49-F238E27FC236}">
                <a16:creationId xmlns:a16="http://schemas.microsoft.com/office/drawing/2014/main" id="{1F520EF8-EB50-49F6-93D9-A0C00D449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96000"/>
            <a:ext cx="25812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2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42F50"/>
                </a:solidFill>
                <a:latin typeface="Microsoft YaHei"/>
                <a:ea typeface="Microsoft YaHei"/>
                <a:cs typeface="Microsoft YaHei"/>
              </a:rPr>
              <a:t>当前怎么开始</a:t>
            </a:r>
          </a:p>
        </p:txBody>
      </p:sp>
      <p:sp>
        <p:nvSpPr>
          <p:cNvPr id="16" name="text-19">
            <a:extLst xmlns:a="http://schemas.openxmlformats.org/drawingml/2006/main">
              <a:ext uri="{FF2B5EF4-FFF2-40B4-BE49-F238E27FC236}">
                <a16:creationId xmlns:a16="http://schemas.microsoft.com/office/drawing/2014/main" id="{6E09794A-C379-45FB-8C4A-C15C93BF5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6134100"/>
            <a:ext cx="11087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63C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C51"/>
                </a:solidFill>
                <a:latin typeface="Microsoft YaHei"/>
                <a:ea typeface="Microsoft YaHei"/>
                <a:cs typeface="Microsoft YaHei"/>
              </a:rPr>
              <a:t>从赛事报名闭环进入，逐步接入Agent与跨业务协同能力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4A32C8-9A55-4EBA-B736-CEF974979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258050"/>
            <a:ext cx="13982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7E0"/>
          </a:solidFill>
          <a:ln xmlns:a="http://schemas.openxmlformats.org/drawingml/2006/main" w="0">
            <a:noFill/>
          </a:ln>
        </p:spPr>
      </p:sp>
      <p:sp>
        <p:nvSpPr>
          <p:cNvPr id="18" name="text-20">
            <a:extLst xmlns:a="http://schemas.openxmlformats.org/drawingml/2006/main">
              <a:ext uri="{FF2B5EF4-FFF2-40B4-BE49-F238E27FC236}">
                <a16:creationId xmlns:a16="http://schemas.microsoft.com/office/drawing/2014/main" id="{9B61C32C-54F1-4461-968B-99EDF7B76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0"/>
            <a:ext cx="13982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2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2F50"/>
                </a:solidFill>
                <a:latin typeface="Microsoft YaHei"/>
                <a:ea typeface="Microsoft YaHei"/>
                <a:cs typeface="Microsoft YaHei"/>
              </a:rPr>
              <a:t>以公共体育价值为基础，让可衡量的增量服务支撑长期运行</a:t>
            </a:r>
          </a:p>
        </p:txBody>
      </p:sp>
    </p:spTree>
    <p:extLst>
      <p:ext uri="{BB962C8B-B14F-4D97-AF65-F5344CB8AC3E}">
        <p14:creationId xmlns:p14="http://schemas.microsoft.com/office/powerpoint/2010/main" val="19280723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21">
            <a:extLst xmlns:a="http://schemas.openxmlformats.org/drawingml/2006/main">
              <a:ext uri="{FF2B5EF4-FFF2-40B4-BE49-F238E27FC236}">
                <a16:creationId xmlns:a16="http://schemas.microsoft.com/office/drawing/2014/main" id="{50E1B69E-8CC5-4FFB-8374-AB126DC18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9575"/>
            <a:ext cx="76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84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847E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" name="text-22">
            <a:extLst xmlns:a="http://schemas.openxmlformats.org/drawingml/2006/main">
              <a:ext uri="{FF2B5EF4-FFF2-40B4-BE49-F238E27FC236}">
                <a16:creationId xmlns:a16="http://schemas.microsoft.com/office/drawing/2014/main" id="{9C4A5407-FB19-441B-9133-C2E669A10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85825"/>
            <a:ext cx="13982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42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42F50"/>
                </a:solidFill>
                <a:latin typeface="Microsoft YaHei"/>
                <a:ea typeface="Microsoft YaHei"/>
                <a:cs typeface="Microsoft YaHei"/>
              </a:rPr>
              <a:t>传统体育平台与AI体育平台：三类对象的能力变化</a:t>
            </a:r>
          </a:p>
        </p:txBody>
      </p:sp>
      <p:sp>
        <p:nvSpPr>
          <p:cNvPr id="3" name="text-23">
            <a:extLst xmlns:a="http://schemas.openxmlformats.org/drawingml/2006/main">
              <a:ext uri="{FF2B5EF4-FFF2-40B4-BE49-F238E27FC236}">
                <a16:creationId xmlns:a16="http://schemas.microsoft.com/office/drawing/2014/main" id="{F27A16C3-523C-403D-BBCC-323426B8B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95450"/>
            <a:ext cx="1381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275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27587"/>
                </a:solidFill>
                <a:latin typeface="Microsoft YaHei"/>
                <a:ea typeface="Microsoft YaHei"/>
                <a:cs typeface="Microsoft YaHei"/>
              </a:rPr>
              <a:t>AI围绕任务理解需求、组织资源，连接业务系统并持续反馈</a:t>
            </a:r>
          </a:p>
        </p:txBody>
      </p:sp>
      <p:sp>
        <p:nvSpPr>
          <p:cNvPr id="4" name="text-24">
            <a:extLst xmlns:a="http://schemas.openxmlformats.org/drawingml/2006/main">
              <a:ext uri="{FF2B5EF4-FFF2-40B4-BE49-F238E27FC236}">
                <a16:creationId xmlns:a16="http://schemas.microsoft.com/office/drawing/2014/main" id="{CFC1E2F4-4074-48F3-98B0-BB3D96FC3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12482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5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587"/>
                </a:solidFill>
                <a:latin typeface="Microsoft YaHei"/>
                <a:ea typeface="Microsoft YaHei"/>
                <a:cs typeface="Microsoft YaHei"/>
              </a:rPr>
              <a:t>体育产业项目  V0.53</a:t>
            </a:r>
          </a:p>
        </p:txBody>
      </p:sp>
      <p:sp>
        <p:nvSpPr>
          <p:cNvPr id="5" name="text-25">
            <a:extLst xmlns:a="http://schemas.openxmlformats.org/drawingml/2006/main">
              <a:ext uri="{FF2B5EF4-FFF2-40B4-BE49-F238E27FC236}">
                <a16:creationId xmlns:a16="http://schemas.microsoft.com/office/drawing/2014/main" id="{352D925D-B9BF-4726-95A7-73D80D73D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05775"/>
            <a:ext cx="704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275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58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28650" y="2647950"/>
          <a:ext xmlns:a="http://schemas.openxmlformats.org/drawingml/2006/main" cx="13982700" cy="33242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95525"/>
                <a:gridCol w="3800475"/>
                <a:gridCol w="4467225"/>
                <a:gridCol w="3419475"/>
              </a:tblGrid>
              <a:tr h="831056">
                <a:tc>
                  <a:txBody>
                    <a:bodyPr lIns="152400" tIns="95250" rIns="152400" bIns="9525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服务对象</a:t>
                      </a:r>
                    </a:p>
                  </a:txBody>
                  <a:tcPr marL="91440" marR="91440" marT="45720" marB="45720" anchor="ctr">
                    <a:solidFill>
                      <a:srgbClr val="142F50"/>
                    </a:solidFill>
                  </a:tcPr>
                </a:tc>
                <a:tc>
                  <a:txBody>
                    <a:bodyPr lIns="152400" tIns="95250" rIns="152400" bIns="9525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传统体育平台</a:t>
                      </a:r>
                    </a:p>
                  </a:txBody>
                  <a:tcPr marL="91440" marR="91440" marT="45720" marB="45720" anchor="ctr">
                    <a:solidFill>
                      <a:srgbClr val="142F50"/>
                    </a:solidFill>
                  </a:tcPr>
                </a:tc>
                <a:tc>
                  <a:txBody>
                    <a:bodyPr lIns="152400" tIns="95250" rIns="152400" bIns="9525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AI体育平台</a:t>
                      </a:r>
                    </a:p>
                  </a:txBody>
                  <a:tcPr marL="91440" marR="91440" marT="45720" marB="45720" anchor="ctr">
                    <a:solidFill>
                      <a:srgbClr val="142F50"/>
                    </a:solidFill>
                  </a:tcPr>
                </a:tc>
                <a:tc>
                  <a:txBody>
                    <a:bodyPr lIns="152400" tIns="95250" rIns="152400" bIns="9525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任务结果示例</a:t>
                      </a:r>
                    </a:p>
                  </a:txBody>
                  <a:tcPr marL="91440" marR="91440" marT="45720" marB="45720" anchor="ctr">
                    <a:solidFill>
                      <a:srgbClr val="142F50"/>
                    </a:solidFill>
                  </a:tcPr>
                </a:tc>
              </a:tr>
              <a:tr h="831056">
                <a:tc>
                  <a:txBody>
                    <a:bodyPr lIns="152400" tIns="95250" rIns="152400" bIns="95250"/>
                    <a:lstStyle/>
                    <a:p>
                      <a:r>
                        <a:rPr sz="1725" b="0">
                          <a:solidFill>
                            <a:srgbClr val="263C5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群众 / 运动者</a:t>
                      </a:r>
                    </a:p>
                  </a:txBody>
                  <a:tcPr marL="91440" marR="91440" marT="45720" marB="45720" anchor="ctr">
                    <a:solidFill>
                      <a:srgbClr val="EFF4F8"/>
                    </a:solidFill>
                  </a:tcPr>
                </a:tc>
                <a:tc>
                  <a:txBody>
                    <a:bodyPr lIns="152400" tIns="95250" rIns="152400" bIns="95250"/>
                    <a:lstStyle/>
                    <a:p>
                      <a:r>
                        <a:rPr sz="1725" b="0">
                          <a:solidFill>
                            <a:srgbClr val="263C5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自行查询资源、筛选条件</a:t>
                      </a:r>
                    </a:p>
                    <a:p>
                      <a:r>
                        <a:rPr sz="1725" b="0">
                          <a:solidFill>
                            <a:srgbClr val="263C5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逐项完成报名与预约</a:t>
                      </a:r>
                    </a:p>
                  </a:txBody>
                  <a:tcPr marL="91440" marR="91440" marT="45720" marB="45720" anchor="ctr">
                    <a:solidFill>
                      <a:srgbClr val="EFF4F8"/>
                    </a:solidFill>
                  </a:tcPr>
                </a:tc>
                <a:tc>
                  <a:txBody>
                    <a:bodyPr lIns="152400" tIns="95250" rIns="152400" bIns="95250"/>
                    <a:lstStyle/>
                    <a:p>
                      <a:r>
                        <a:rPr sz="1725" b="0">
                          <a:solidFill>
                            <a:srgbClr val="263C5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理解目标和多项约束</a:t>
                      </a:r>
                    </a:p>
                    <a:p>
                      <a:r>
                        <a:rPr sz="1725" b="0">
                          <a:solidFill>
                            <a:srgbClr val="263C5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匹配资源、组织服务步骤</a:t>
                      </a:r>
                    </a:p>
                  </a:txBody>
                  <a:tcPr marL="91440" marR="91440" marT="45720" marB="45720" anchor="ctr">
                    <a:solidFill>
                      <a:srgbClr val="EFF4F8"/>
                    </a:solidFill>
                  </a:tcPr>
                </a:tc>
                <a:tc>
                  <a:txBody>
                    <a:bodyPr lIns="152400" tIns="95250" rIns="152400" bIns="95250"/>
                    <a:lstStyle/>
                    <a:p>
                      <a:r>
                        <a:rPr sz="1725" b="0">
                          <a:solidFill>
                            <a:srgbClr val="263C5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亲子运动需求</a:t>
                      </a:r>
                    </a:p>
                    <a:p>
                      <a:r>
                        <a:rPr sz="1725" b="0">
                          <a:solidFill>
                            <a:srgbClr val="263C5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形成活动与场馆方案</a:t>
                      </a:r>
                    </a:p>
                  </a:txBody>
                  <a:tcPr marL="91440" marR="91440" marT="45720" marB="45720" anchor="ctr">
                    <a:solidFill>
                      <a:srgbClr val="EFF4F8"/>
                    </a:solidFill>
                  </a:tcPr>
                </a:tc>
              </a:tr>
              <a:tr h="831056">
                <a:tc>
                  <a:txBody>
                    <a:bodyPr lIns="152400" tIns="95250" rIns="152400" bIns="95250"/>
                    <a:lstStyle/>
                    <a:p>
                      <a:r>
                        <a:rPr sz="1725" b="0">
                          <a:solidFill>
                            <a:srgbClr val="263C5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经营与服务主体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52400" bIns="95250"/>
                    <a:lstStyle/>
                    <a:p>
                      <a:r>
                        <a:rPr sz="1725" b="0">
                          <a:solidFill>
                            <a:srgbClr val="263C5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发布资源、处理订单</a:t>
                      </a:r>
                    </a:p>
                    <a:p>
                      <a:r>
                        <a:rPr sz="1725" b="0">
                          <a:solidFill>
                            <a:srgbClr val="263C5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分别使用业务工具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52400" bIns="95250"/>
                    <a:lstStyle/>
                    <a:p>
                      <a:r>
                        <a:rPr sz="1725" b="0">
                          <a:solidFill>
                            <a:srgbClr val="263C5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协同办赛、内容和用户运营</a:t>
                      </a:r>
                    </a:p>
                    <a:p>
                      <a:r>
                        <a:rPr sz="1725" b="0">
                          <a:solidFill>
                            <a:srgbClr val="263C5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辅助经营诊断与资源优化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52400" bIns="95250"/>
                    <a:lstStyle/>
                    <a:p>
                      <a:r>
                        <a:rPr sz="1725" b="0">
                          <a:solidFill>
                            <a:srgbClr val="263C5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社区赛事筹办</a:t>
                      </a:r>
                    </a:p>
                    <a:p>
                      <a:r>
                        <a:rPr sz="1725" b="0">
                          <a:solidFill>
                            <a:srgbClr val="263C5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形成方案、报名与物料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1056">
                <a:tc>
                  <a:txBody>
                    <a:bodyPr lIns="152400" tIns="95250" rIns="152400" bIns="95250"/>
                    <a:lstStyle/>
                    <a:p>
                      <a:r>
                        <a:rPr sz="1725" b="0">
                          <a:solidFill>
                            <a:srgbClr val="263C5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运营与管理主体</a:t>
                      </a:r>
                    </a:p>
                  </a:txBody>
                  <a:tcPr marL="91440" marR="91440" marT="45720" marB="45720" anchor="ctr">
                    <a:solidFill>
                      <a:srgbClr val="EFF4F8"/>
                    </a:solidFill>
                  </a:tcPr>
                </a:tc>
                <a:tc>
                  <a:txBody>
                    <a:bodyPr lIns="152400" tIns="95250" rIns="152400" bIns="95250"/>
                    <a:lstStyle/>
                    <a:p>
                      <a:r>
                        <a:rPr sz="1725" b="0">
                          <a:solidFill>
                            <a:srgbClr val="263C5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汇总报表、查看统计</a:t>
                      </a:r>
                    </a:p>
                    <a:p>
                      <a:r>
                        <a:rPr sz="1725" b="0">
                          <a:solidFill>
                            <a:srgbClr val="263C5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人工核对与跨方协调</a:t>
                      </a:r>
                    </a:p>
                  </a:txBody>
                  <a:tcPr marL="91440" marR="91440" marT="45720" marB="45720" anchor="ctr">
                    <a:solidFill>
                      <a:srgbClr val="EFF4F8"/>
                    </a:solidFill>
                  </a:tcPr>
                </a:tc>
                <a:tc>
                  <a:txBody>
                    <a:bodyPr lIns="152400" tIns="95250" rIns="152400" bIns="95250"/>
                    <a:lstStyle/>
                    <a:p>
                      <a:r>
                        <a:rPr sz="1725" b="0">
                          <a:solidFill>
                            <a:srgbClr val="263C5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理解需求与运行状态</a:t>
                      </a:r>
                    </a:p>
                    <a:p>
                      <a:r>
                        <a:rPr sz="1725" b="0">
                          <a:solidFill>
                            <a:srgbClr val="263C5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辅助风险识别和服务评估</a:t>
                      </a:r>
                    </a:p>
                  </a:txBody>
                  <a:tcPr marL="91440" marR="91440" marT="45720" marB="45720" anchor="ctr">
                    <a:solidFill>
                      <a:srgbClr val="EFF4F8"/>
                    </a:solidFill>
                  </a:tcPr>
                </a:tc>
                <a:tc>
                  <a:txBody>
                    <a:bodyPr lIns="152400" tIns="95250" rIns="152400" bIns="95250"/>
                    <a:lstStyle/>
                    <a:p>
                      <a:r>
                        <a:rPr sz="1725" b="0">
                          <a:solidFill>
                            <a:srgbClr val="263C5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专项运行分析</a:t>
                      </a:r>
                    </a:p>
                    <a:p>
                      <a:r>
                        <a:rPr sz="1725" b="0">
                          <a:solidFill>
                            <a:srgbClr val="263C5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形成问题清单与管理材料</a:t>
                      </a:r>
                    </a:p>
                  </a:txBody>
                  <a:tcPr marL="91440" marR="91440" marT="45720" marB="45720" anchor="ctr">
                    <a:solidFill>
                      <a:srgbClr val="EFF4F8"/>
                    </a:solidFill>
                  </a:tcPr>
                </a:tc>
              </a:tr>
            </a:tbl>
          </a:graphicData>
        </a:graphic>
      </p:graphicFrame>
      <p:sp>
        <p:nvSpPr>
          <p:cNvPr id="7" name="text-26">
            <a:extLst xmlns:a="http://schemas.openxmlformats.org/drawingml/2006/main">
              <a:ext uri="{FF2B5EF4-FFF2-40B4-BE49-F238E27FC236}">
                <a16:creationId xmlns:a16="http://schemas.microsoft.com/office/drawing/2014/main" id="{86FB929B-C074-479E-BD73-D77A703A7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86525"/>
            <a:ext cx="19335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84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847E"/>
                </a:solidFill>
                <a:latin typeface="Microsoft YaHei"/>
                <a:ea typeface="Microsoft YaHei"/>
                <a:cs typeface="Microsoft YaHei"/>
              </a:rPr>
              <a:t>共同能力</a:t>
            </a:r>
          </a:p>
        </p:txBody>
      </p:sp>
      <p:sp>
        <p:nvSpPr>
          <p:cNvPr id="8" name="text-27">
            <a:extLst xmlns:a="http://schemas.openxmlformats.org/drawingml/2006/main">
              <a:ext uri="{FF2B5EF4-FFF2-40B4-BE49-F238E27FC236}">
                <a16:creationId xmlns:a16="http://schemas.microsoft.com/office/drawing/2014/main" id="{AFFD40DB-465E-430E-A033-939735CCE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6477000"/>
            <a:ext cx="115252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63C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63C51"/>
                </a:solidFill>
                <a:latin typeface="Microsoft YaHei"/>
                <a:ea typeface="Microsoft YaHei"/>
                <a:cs typeface="Microsoft YaHei"/>
              </a:rPr>
              <a:t>需求理解、知识与规则、资源匹配、任务规划、服务编排与调用、反馈优化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D1621B-65BE-43F8-914D-716C91EDD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258050"/>
            <a:ext cx="13982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7E0"/>
          </a:solidFill>
          <a:ln xmlns:a="http://schemas.openxmlformats.org/drawingml/2006/main" w="0">
            <a:noFill/>
          </a:ln>
        </p:spPr>
      </p:sp>
      <p:sp>
        <p:nvSpPr>
          <p:cNvPr id="10" name="text-28">
            <a:extLst xmlns:a="http://schemas.openxmlformats.org/drawingml/2006/main">
              <a:ext uri="{FF2B5EF4-FFF2-40B4-BE49-F238E27FC236}">
                <a16:creationId xmlns:a16="http://schemas.microsoft.com/office/drawing/2014/main" id="{C6FD3F32-7FA6-4BA9-9420-880183958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0"/>
            <a:ext cx="13982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2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2F50"/>
                </a:solidFill>
                <a:latin typeface="Microsoft YaHei"/>
                <a:ea typeface="Microsoft YaHei"/>
                <a:cs typeface="Microsoft YaHei"/>
              </a:rPr>
              <a:t>让群众完成任务，让经营方运营资源，让管理方掌握问题与协同处置</a:t>
            </a:r>
          </a:p>
        </p:txBody>
      </p:sp>
    </p:spTree>
    <p:extLst>
      <p:ext uri="{BB962C8B-B14F-4D97-AF65-F5344CB8AC3E}">
        <p14:creationId xmlns:p14="http://schemas.microsoft.com/office/powerpoint/2010/main" val="45001467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42F5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ext-29">
            <a:extLst xmlns:a="http://schemas.openxmlformats.org/drawingml/2006/main">
              <a:ext uri="{FF2B5EF4-FFF2-40B4-BE49-F238E27FC236}">
                <a16:creationId xmlns:a16="http://schemas.microsoft.com/office/drawing/2014/main" id="{3E12CC1D-33D0-49B8-B2AA-B50DF4E10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9575"/>
            <a:ext cx="76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3BB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93BBD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" name="text-30">
            <a:extLst xmlns:a="http://schemas.openxmlformats.org/drawingml/2006/main">
              <a:ext uri="{FF2B5EF4-FFF2-40B4-BE49-F238E27FC236}">
                <a16:creationId xmlns:a16="http://schemas.microsoft.com/office/drawing/2014/main" id="{0776553F-E948-47BC-A78D-BED538255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85825"/>
            <a:ext cx="13982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总体架构：1 + 3 + 6 + N</a:t>
            </a:r>
          </a:p>
        </p:txBody>
      </p:sp>
      <p:sp>
        <p:nvSpPr>
          <p:cNvPr id="3" name="text-31">
            <a:extLst xmlns:a="http://schemas.openxmlformats.org/drawingml/2006/main">
              <a:ext uri="{FF2B5EF4-FFF2-40B4-BE49-F238E27FC236}">
                <a16:creationId xmlns:a16="http://schemas.microsoft.com/office/drawing/2014/main" id="{B270F466-D1B2-4707-9E80-E5C0689D8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95450"/>
            <a:ext cx="1381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7D7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7D7E5"/>
                </a:solidFill>
                <a:latin typeface="Microsoft YaHei"/>
                <a:ea typeface="Microsoft YaHei"/>
                <a:cs typeface="Microsoft YaHei"/>
              </a:rPr>
              <a:t>1个体育数字底座 + 3个OS + 6个Agent + N项赛事活动</a:t>
            </a:r>
          </a:p>
        </p:txBody>
      </p:sp>
      <p:sp>
        <p:nvSpPr>
          <p:cNvPr id="4" name="text-32">
            <a:extLst xmlns:a="http://schemas.openxmlformats.org/drawingml/2006/main">
              <a:ext uri="{FF2B5EF4-FFF2-40B4-BE49-F238E27FC236}">
                <a16:creationId xmlns:a16="http://schemas.microsoft.com/office/drawing/2014/main" id="{2BDDDD92-9EDD-415C-8CC9-35560A773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12482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1A8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1A8BD"/>
                </a:solidFill>
                <a:latin typeface="Microsoft YaHei"/>
                <a:ea typeface="Microsoft YaHei"/>
                <a:cs typeface="Microsoft YaHei"/>
              </a:rPr>
              <a:t>体育产业项目  V0.53</a:t>
            </a:r>
          </a:p>
        </p:txBody>
      </p:sp>
      <p:sp>
        <p:nvSpPr>
          <p:cNvPr id="5" name="text-33">
            <a:extLst xmlns:a="http://schemas.openxmlformats.org/drawingml/2006/main">
              <a:ext uri="{FF2B5EF4-FFF2-40B4-BE49-F238E27FC236}">
                <a16:creationId xmlns:a16="http://schemas.microsoft.com/office/drawing/2014/main" id="{200050EB-9E64-42C7-9692-ADB29234D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05775"/>
            <a:ext cx="704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91A8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1A8B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text-34">
            <a:extLst xmlns:a="http://schemas.openxmlformats.org/drawingml/2006/main">
              <a:ext uri="{FF2B5EF4-FFF2-40B4-BE49-F238E27FC236}">
                <a16:creationId xmlns:a16="http://schemas.microsoft.com/office/drawing/2014/main" id="{3083C31B-7F97-4B9C-83B0-0A40AB243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76525"/>
            <a:ext cx="1619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72C6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72C6BC"/>
                </a:solidFill>
                <a:latin typeface="Microsoft YaHei"/>
                <a:ea typeface="Microsoft YaHei"/>
                <a:cs typeface="Microsoft YaHei"/>
              </a:rPr>
              <a:t>N 项</a:t>
            </a:r>
          </a:p>
          <a:p xmlns:a="http://schemas.openxmlformats.org/drawingml/2006/main">
            <a:pPr algn="l">
              <a:defRPr sz="1950" b="1">
                <a:solidFill>
                  <a:srgbClr val="72C6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72C6BC"/>
                </a:solidFill>
                <a:latin typeface="Microsoft YaHei"/>
                <a:ea typeface="Microsoft YaHei"/>
                <a:cs typeface="Microsoft YaHei"/>
              </a:rPr>
              <a:t>赛事活动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FC87BA-BCBF-44AB-9DBB-9BB1AE8F1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667000"/>
            <a:ext cx="1232535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86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社区篮球赛   青少年联赛   城市路跑   骑行活动   全民健身活动   户外挑战   ……</a:t>
            </a:r>
          </a:p>
        </p:txBody>
      </p:sp>
      <p:sp>
        <p:nvSpPr>
          <p:cNvPr id="8" name="text-35">
            <a:extLst xmlns:a="http://schemas.openxmlformats.org/drawingml/2006/main">
              <a:ext uri="{FF2B5EF4-FFF2-40B4-BE49-F238E27FC236}">
                <a16:creationId xmlns:a16="http://schemas.microsoft.com/office/drawing/2014/main" id="{31E2973A-2F5E-4C24-8BA3-E13FD1C2A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457575"/>
            <a:ext cx="1219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ED2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BED2E0"/>
                </a:solidFill>
                <a:latin typeface="Microsoft YaHei"/>
                <a:ea typeface="Microsoft YaHei"/>
                <a:cs typeface="Microsoft YaHei"/>
              </a:rPr>
              <a:t>按赛事活动加载规则包、流程模板、知识库和专项工具，共享底层能力</a:t>
            </a:r>
          </a:p>
        </p:txBody>
      </p:sp>
      <p:sp>
        <p:nvSpPr>
          <p:cNvPr id="9" name="text-36">
            <a:extLst xmlns:a="http://schemas.openxmlformats.org/drawingml/2006/main">
              <a:ext uri="{FF2B5EF4-FFF2-40B4-BE49-F238E27FC236}">
                <a16:creationId xmlns:a16="http://schemas.microsoft.com/office/drawing/2014/main" id="{FB2EDCF6-A71A-4584-8958-0CBC82700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81475"/>
            <a:ext cx="1619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2C6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72C6BC"/>
                </a:solidFill>
                <a:latin typeface="Microsoft YaHei"/>
                <a:ea typeface="Microsoft YaHei"/>
                <a:cs typeface="Microsoft YaHei"/>
              </a:rPr>
              <a:t>6 个Agent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F5E906-79F8-4FD6-BC10-28AA1D461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010025"/>
            <a:ext cx="1943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42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2F50"/>
                </a:solidFill>
                <a:latin typeface="Microsoft YaHei"/>
                <a:ea typeface="Microsoft YaHei"/>
                <a:cs typeface="Microsoft YaHei"/>
              </a:rPr>
              <a:t>办赛</a:t>
            </a:r>
          </a:p>
          <a:p xmlns:a="http://schemas.openxmlformats.org/drawingml/2006/main">
            <a:pPr algn="ctr">
              <a:defRPr sz="1725" b="1">
                <a:solidFill>
                  <a:srgbClr val="142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2F50"/>
                </a:solidFill>
                <a:latin typeface="Microsoft YaHei"/>
                <a:ea typeface="Microsoft YaHei"/>
                <a:cs typeface="Microsoft YaHei"/>
              </a:rPr>
              <a:t>Agent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CE744D-5871-4421-AF85-1B9D3DB85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010025"/>
            <a:ext cx="1943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42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2F50"/>
                </a:solidFill>
                <a:latin typeface="Microsoft YaHei"/>
                <a:ea typeface="Microsoft YaHei"/>
                <a:cs typeface="Microsoft YaHei"/>
              </a:rPr>
              <a:t>编排与执裁</a:t>
            </a:r>
          </a:p>
          <a:p xmlns:a="http://schemas.openxmlformats.org/drawingml/2006/main">
            <a:pPr algn="ctr">
              <a:defRPr sz="1725" b="1">
                <a:solidFill>
                  <a:srgbClr val="142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2F50"/>
                </a:solidFill>
                <a:latin typeface="Microsoft YaHei"/>
                <a:ea typeface="Microsoft YaHei"/>
                <a:cs typeface="Microsoft YaHei"/>
              </a:rPr>
              <a:t>Agent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B2D6C9-8C50-4B4F-9AFF-C8F769D24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010025"/>
            <a:ext cx="1943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42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2F50"/>
                </a:solidFill>
                <a:latin typeface="Microsoft YaHei"/>
                <a:ea typeface="Microsoft YaHei"/>
                <a:cs typeface="Microsoft YaHei"/>
              </a:rPr>
              <a:t>内容</a:t>
            </a:r>
          </a:p>
          <a:p xmlns:a="http://schemas.openxmlformats.org/drawingml/2006/main">
            <a:pPr algn="ctr">
              <a:defRPr sz="1725" b="1">
                <a:solidFill>
                  <a:srgbClr val="142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2F50"/>
                </a:solidFill>
                <a:latin typeface="Microsoft YaHei"/>
                <a:ea typeface="Microsoft YaHei"/>
                <a:cs typeface="Microsoft YaHei"/>
              </a:rPr>
              <a:t>Agent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23F96D-1F13-4757-B847-F088427F0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010025"/>
            <a:ext cx="1943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42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2F50"/>
                </a:solidFill>
                <a:latin typeface="Microsoft YaHei"/>
                <a:ea typeface="Microsoft YaHei"/>
                <a:cs typeface="Microsoft YaHei"/>
              </a:rPr>
              <a:t>训练与指导</a:t>
            </a:r>
          </a:p>
          <a:p xmlns:a="http://schemas.openxmlformats.org/drawingml/2006/main">
            <a:pPr algn="ctr">
              <a:defRPr sz="1725" b="1">
                <a:solidFill>
                  <a:srgbClr val="142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2F50"/>
                </a:solidFill>
                <a:latin typeface="Microsoft YaHei"/>
                <a:ea typeface="Microsoft YaHei"/>
                <a:cs typeface="Microsoft YaHei"/>
              </a:rPr>
              <a:t>Agent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44E2CE-28F4-4598-B43B-5FE383352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4010025"/>
            <a:ext cx="1943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42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2F50"/>
                </a:solidFill>
                <a:latin typeface="Microsoft YaHei"/>
                <a:ea typeface="Microsoft YaHei"/>
                <a:cs typeface="Microsoft YaHei"/>
              </a:rPr>
              <a:t>运营增长</a:t>
            </a:r>
          </a:p>
          <a:p xmlns:a="http://schemas.openxmlformats.org/drawingml/2006/main">
            <a:pPr algn="ctr">
              <a:defRPr sz="1725" b="1">
                <a:solidFill>
                  <a:srgbClr val="142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2F50"/>
                </a:solidFill>
                <a:latin typeface="Microsoft YaHei"/>
                <a:ea typeface="Microsoft YaHei"/>
                <a:cs typeface="Microsoft YaHei"/>
              </a:rPr>
              <a:t>Agent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D9170B-632E-48B4-8CC5-EB7FAB008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4010025"/>
            <a:ext cx="1943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42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2F50"/>
                </a:solidFill>
                <a:latin typeface="Microsoft YaHei"/>
                <a:ea typeface="Microsoft YaHei"/>
                <a:cs typeface="Microsoft YaHei"/>
              </a:rPr>
              <a:t>治理与报表</a:t>
            </a:r>
          </a:p>
          <a:p xmlns:a="http://schemas.openxmlformats.org/drawingml/2006/main">
            <a:pPr algn="ctr">
              <a:defRPr sz="1725" b="1">
                <a:solidFill>
                  <a:srgbClr val="142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2F50"/>
                </a:solidFill>
                <a:latin typeface="Microsoft YaHei"/>
                <a:ea typeface="Microsoft YaHei"/>
                <a:cs typeface="Microsoft YaHei"/>
              </a:rPr>
              <a:t>Agent</a:t>
            </a:r>
          </a:p>
        </p:txBody>
      </p:sp>
      <p:sp>
        <p:nvSpPr>
          <p:cNvPr id="16" name="text-37">
            <a:extLst xmlns:a="http://schemas.openxmlformats.org/drawingml/2006/main">
              <a:ext uri="{FF2B5EF4-FFF2-40B4-BE49-F238E27FC236}">
                <a16:creationId xmlns:a16="http://schemas.microsoft.com/office/drawing/2014/main" id="{2D0FE45D-927D-4CCB-8050-2CF1FE932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76875"/>
            <a:ext cx="16097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72C6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72C6BC"/>
                </a:solidFill>
                <a:latin typeface="Microsoft YaHei"/>
                <a:ea typeface="Microsoft YaHei"/>
                <a:cs typeface="Microsoft YaHei"/>
              </a:rPr>
              <a:t>3 个OS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4AB754-EBFC-4443-B957-C8C5919D2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295900"/>
            <a:ext cx="40195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5F9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赛事 OS</a:t>
            </a:r>
          </a:p>
        </p:txBody>
      </p:sp>
      <p:sp>
        <p:nvSpPr>
          <p:cNvPr id="18" name="text-38">
            <a:extLst xmlns:a="http://schemas.openxmlformats.org/drawingml/2006/main">
              <a:ext uri="{FF2B5EF4-FFF2-40B4-BE49-F238E27FC236}">
                <a16:creationId xmlns:a16="http://schemas.microsoft.com/office/drawing/2014/main" id="{31A9FAE7-FFF6-4091-B503-409EB8AC4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6019800"/>
            <a:ext cx="3867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D3E0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D3E0E9"/>
                </a:solidFill>
                <a:latin typeface="Microsoft YaHei"/>
                <a:ea typeface="Microsoft YaHei"/>
                <a:cs typeface="Microsoft YaHei"/>
              </a:rPr>
              <a:t>赛事活动全生命周期业务事实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23FB50-B9E0-4C59-A526-03E524119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295900"/>
            <a:ext cx="40195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5F9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场馆 OS</a:t>
            </a:r>
          </a:p>
        </p:txBody>
      </p:sp>
      <p:sp>
        <p:nvSpPr>
          <p:cNvPr id="20" name="text-39">
            <a:extLst xmlns:a="http://schemas.openxmlformats.org/drawingml/2006/main">
              <a:ext uri="{FF2B5EF4-FFF2-40B4-BE49-F238E27FC236}">
                <a16:creationId xmlns:a16="http://schemas.microsoft.com/office/drawing/2014/main" id="{68B8FCFD-1291-4C4E-9312-0DAC26173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6019800"/>
            <a:ext cx="3867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D3E0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D3E0E9"/>
                </a:solidFill>
                <a:latin typeface="Microsoft YaHei"/>
                <a:ea typeface="Microsoft YaHei"/>
                <a:cs typeface="Microsoft YaHei"/>
              </a:rPr>
              <a:t>场地、时段、预约与经营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01747B-E631-41E3-8EF0-A8AA7EEEE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5295900"/>
            <a:ext cx="40195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5F9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用户 OS</a:t>
            </a:r>
          </a:p>
        </p:txBody>
      </p:sp>
      <p:sp>
        <p:nvSpPr>
          <p:cNvPr id="22" name="text-40">
            <a:extLst xmlns:a="http://schemas.openxmlformats.org/drawingml/2006/main">
              <a:ext uri="{FF2B5EF4-FFF2-40B4-BE49-F238E27FC236}">
                <a16:creationId xmlns:a16="http://schemas.microsoft.com/office/drawing/2014/main" id="{C16113BC-93E3-4FFB-9248-05D103D6E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019800"/>
            <a:ext cx="3867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D3E0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D3E0E9"/>
                </a:solidFill>
                <a:latin typeface="Microsoft YaHei"/>
                <a:ea typeface="Microsoft YaHei"/>
                <a:cs typeface="Microsoft YaHei"/>
              </a:rPr>
              <a:t>身份、参与、运动档案与持续服务</a:t>
            </a:r>
          </a:p>
        </p:txBody>
      </p:sp>
      <p:sp>
        <p:nvSpPr>
          <p:cNvPr id="23" name="text-41">
            <a:extLst xmlns:a="http://schemas.openxmlformats.org/drawingml/2006/main">
              <a:ext uri="{FF2B5EF4-FFF2-40B4-BE49-F238E27FC236}">
                <a16:creationId xmlns:a16="http://schemas.microsoft.com/office/drawing/2014/main" id="{65DD7C4E-AF4D-4390-8D2F-362DD5B95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734175"/>
            <a:ext cx="16002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72C6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72C6BC"/>
                </a:solidFill>
                <a:latin typeface="Microsoft YaHei"/>
                <a:ea typeface="Microsoft YaHei"/>
                <a:cs typeface="Microsoft YaHei"/>
              </a:rPr>
              <a:t>1 个底座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899ED7-BADC-4CAB-9DCF-D3B57A4E8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6657975"/>
            <a:ext cx="123253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86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身份权限   业务模型   资源目录   服务目录   知识与规则   接口连接   日志与安全   AI运行治理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85762F-3EA9-452C-B6EC-81F2775BC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19975"/>
            <a:ext cx="13982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16D"/>
          </a:solidFill>
          <a:ln xmlns:a="http://schemas.openxmlformats.org/drawingml/2006/main" w="0">
            <a:noFill/>
          </a:ln>
        </p:spPr>
      </p:sp>
      <p:sp>
        <p:nvSpPr>
          <p:cNvPr id="26" name="text-42">
            <a:extLst xmlns:a="http://schemas.openxmlformats.org/drawingml/2006/main">
              <a:ext uri="{FF2B5EF4-FFF2-40B4-BE49-F238E27FC236}">
                <a16:creationId xmlns:a16="http://schemas.microsoft.com/office/drawing/2014/main" id="{BFCB1001-A8A0-4B40-8B97-0F7E4E70E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591425"/>
            <a:ext cx="13982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OS管理确定性业务事实，Agent负责智能任务和跨业务协同</a:t>
            </a:r>
          </a:p>
        </p:txBody>
      </p:sp>
    </p:spTree>
    <p:extLst>
      <p:ext uri="{BB962C8B-B14F-4D97-AF65-F5344CB8AC3E}">
        <p14:creationId xmlns:p14="http://schemas.microsoft.com/office/powerpoint/2010/main" val="19443254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ext-43">
            <a:extLst xmlns:a="http://schemas.openxmlformats.org/drawingml/2006/main">
              <a:ext uri="{FF2B5EF4-FFF2-40B4-BE49-F238E27FC236}">
                <a16:creationId xmlns:a16="http://schemas.microsoft.com/office/drawing/2014/main" id="{7186D3B2-64F1-4A1B-873D-39C6F6D24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9575"/>
            <a:ext cx="76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84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847E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" name="text-44">
            <a:extLst xmlns:a="http://schemas.openxmlformats.org/drawingml/2006/main">
              <a:ext uri="{FF2B5EF4-FFF2-40B4-BE49-F238E27FC236}">
                <a16:creationId xmlns:a16="http://schemas.microsoft.com/office/drawing/2014/main" id="{BEE3A042-3919-4465-AE2F-5C347D987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85825"/>
            <a:ext cx="13982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42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42F50"/>
                </a:solidFill>
                <a:latin typeface="Microsoft YaHei"/>
                <a:ea typeface="Microsoft YaHei"/>
                <a:cs typeface="Microsoft YaHei"/>
              </a:rPr>
              <a:t>数字底座与技术实现</a:t>
            </a:r>
          </a:p>
        </p:txBody>
      </p:sp>
      <p:sp>
        <p:nvSpPr>
          <p:cNvPr id="3" name="text-45">
            <a:extLst xmlns:a="http://schemas.openxmlformats.org/drawingml/2006/main">
              <a:ext uri="{FF2B5EF4-FFF2-40B4-BE49-F238E27FC236}">
                <a16:creationId xmlns:a16="http://schemas.microsoft.com/office/drawing/2014/main" id="{FA013E2A-47C3-4B4D-9E34-CD0D0469E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95450"/>
            <a:ext cx="1381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275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27587"/>
                </a:solidFill>
                <a:latin typeface="Microsoft YaHei"/>
                <a:ea typeface="Microsoft YaHei"/>
                <a:cs typeface="Microsoft YaHei"/>
              </a:rPr>
              <a:t>Agent + Tool Use + 领域知识库 + 真实业务系统</a:t>
            </a:r>
          </a:p>
        </p:txBody>
      </p:sp>
      <p:sp>
        <p:nvSpPr>
          <p:cNvPr id="4" name="text-46">
            <a:extLst xmlns:a="http://schemas.openxmlformats.org/drawingml/2006/main">
              <a:ext uri="{FF2B5EF4-FFF2-40B4-BE49-F238E27FC236}">
                <a16:creationId xmlns:a16="http://schemas.microsoft.com/office/drawing/2014/main" id="{4F532BEE-AACE-4CB3-B694-E32FFA5C3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12482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5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587"/>
                </a:solidFill>
                <a:latin typeface="Microsoft YaHei"/>
                <a:ea typeface="Microsoft YaHei"/>
                <a:cs typeface="Microsoft YaHei"/>
              </a:rPr>
              <a:t>体育产业项目  V0.53</a:t>
            </a:r>
          </a:p>
        </p:txBody>
      </p:sp>
      <p:sp>
        <p:nvSpPr>
          <p:cNvPr id="5" name="text-47">
            <a:extLst xmlns:a="http://schemas.openxmlformats.org/drawingml/2006/main">
              <a:ext uri="{FF2B5EF4-FFF2-40B4-BE49-F238E27FC236}">
                <a16:creationId xmlns:a16="http://schemas.microsoft.com/office/drawing/2014/main" id="{E1C09949-A315-4816-A1E9-D9E3125BF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05775"/>
            <a:ext cx="704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275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587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CD7532-76D4-468A-815A-C9B87A674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524125"/>
            <a:ext cx="802005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42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42F50"/>
                </a:solidFill>
                <a:latin typeface="Microsoft YaHei"/>
                <a:ea typeface="Microsoft YaHei"/>
                <a:cs typeface="Microsoft YaHei"/>
              </a:rPr>
              <a:t>模型能力：国产通用模型 / 专项模型 / 推理与多模型调度</a:t>
            </a:r>
          </a:p>
        </p:txBody>
      </p:sp>
      <p:sp>
        <p:nvSpPr>
          <p:cNvPr id="7" name="text-48">
            <a:extLst xmlns:a="http://schemas.openxmlformats.org/drawingml/2006/main">
              <a:ext uri="{FF2B5EF4-FFF2-40B4-BE49-F238E27FC236}">
                <a16:creationId xmlns:a16="http://schemas.microsoft.com/office/drawing/2014/main" id="{AF1E7141-8791-492E-8713-3D8BCD8E0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333750"/>
            <a:ext cx="1114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684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847E"/>
                </a:solidFill>
                <a:latin typeface="Microsoft YaHei"/>
                <a:ea typeface="Microsoft YaHei"/>
                <a:cs typeface="Microsoft YaHei"/>
              </a:rPr>
              <a:t>公有模型与私有化模型混合部署，按数据敏感程度与授权边界选择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D79BCF-14CB-4AD8-AD42-23360A4EF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0"/>
            <a:ext cx="37147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42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2F50"/>
                </a:solidFill>
                <a:latin typeface="Microsoft YaHei"/>
                <a:ea typeface="Microsoft YaHei"/>
                <a:cs typeface="Microsoft YaHei"/>
              </a:rPr>
              <a:t>领域知识库与规则</a:t>
            </a:r>
          </a:p>
          <a:p xmlns:a="http://schemas.openxmlformats.org/drawingml/2006/main">
            <a:pPr algn="ctr">
              <a:defRPr sz="1725" b="1">
                <a:solidFill>
                  <a:srgbClr val="142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2F50"/>
                </a:solidFill>
                <a:latin typeface="Microsoft YaHei"/>
                <a:ea typeface="Microsoft YaHei"/>
                <a:cs typeface="Microsoft YaHei"/>
              </a:rPr>
              <a:t>竞赛规程、赛制、场馆</a:t>
            </a:r>
          </a:p>
          <a:p xmlns:a="http://schemas.openxmlformats.org/drawingml/2006/main">
            <a:pPr algn="ctr">
              <a:defRPr sz="1725" b="1">
                <a:solidFill>
                  <a:srgbClr val="142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2F50"/>
                </a:solidFill>
                <a:latin typeface="Microsoft YaHei"/>
                <a:ea typeface="Microsoft YaHei"/>
                <a:cs typeface="Microsoft YaHei"/>
              </a:rPr>
              <a:t>政策、裁判与教练知识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815EC4-A81C-4EDC-BDAD-3E56525B7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000500"/>
            <a:ext cx="403860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F5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Agent编排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任务拆解、协作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上下文与流程控制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DB61CE-D1F9-46D2-93ED-741D84332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000500"/>
            <a:ext cx="491490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684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847E"/>
                </a:solidFill>
                <a:latin typeface="Microsoft YaHei"/>
                <a:ea typeface="Microsoft YaHei"/>
                <a:cs typeface="Microsoft YaHei"/>
              </a:rPr>
              <a:t>Tool Use / 服务连接</a:t>
            </a:r>
          </a:p>
          <a:p xmlns:a="http://schemas.openxmlformats.org/drawingml/2006/main">
            <a:pPr algn="ctr">
              <a:defRPr sz="1800" b="1">
                <a:solidFill>
                  <a:srgbClr val="1684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847E"/>
                </a:solidFill>
                <a:latin typeface="Microsoft YaHei"/>
                <a:ea typeface="Microsoft YaHei"/>
                <a:cs typeface="Microsoft YaHei"/>
              </a:rPr>
              <a:t>经授权调用工具和接口</a:t>
            </a:r>
          </a:p>
          <a:p xmlns:a="http://schemas.openxmlformats.org/drawingml/2006/main">
            <a:pPr algn="ctr">
              <a:defRPr sz="1800" b="1">
                <a:solidFill>
                  <a:srgbClr val="1684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847E"/>
                </a:solidFill>
                <a:latin typeface="Microsoft YaHei"/>
                <a:ea typeface="Microsoft YaHei"/>
                <a:cs typeface="Microsoft YaHei"/>
              </a:rPr>
              <a:t>获取结果并回写状态</a:t>
            </a:r>
          </a:p>
        </p:txBody>
      </p:sp>
      <p:cxnSp>
        <p:nvCxnSpPr>
          <p:cNvPr id="28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343400" y="4662488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6847E"/>
            </a:solidFill>
            <a:tailEnd type="triangle" w="sm" len="sm"/>
          </a:ln>
        </p:spPr>
      </p:cxnSp>
      <p:cxnSp>
        <p:nvCxnSpPr>
          <p:cNvPr id="29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9029700" y="4662488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6847E"/>
            </a:solidFill>
            <a:tail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987C8A-5FF8-4A7B-8B22-3623E7EA5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72150"/>
            <a:ext cx="139827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42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42F50"/>
                </a:solidFill>
                <a:latin typeface="Microsoft YaHei"/>
                <a:ea typeface="Microsoft YaHei"/>
                <a:cs typeface="Microsoft YaHei"/>
              </a:rPr>
              <a:t>真实业务系统：赛事OS / 场馆OS / 用户OS / 地图、消息、支付、视频及第三方服务</a:t>
            </a:r>
          </a:p>
        </p:txBody>
      </p:sp>
      <p:cxnSp>
        <p:nvCxnSpPr>
          <p:cNvPr id="31" name=""/>
          <p:cNvCxnSpPr>
            <a:stCxn xmlns:a="http://schemas.openxmlformats.org/drawingml/2006/main" id="10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 flipH="1">
            <a:off x="7620000" y="5324475"/>
            <a:ext cx="4533900" cy="4476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955">
            <a:solidFill>
              <a:srgbClr val="16847E"/>
            </a:solidFill>
            <a:tailEnd type="triangle" w="sm" len="sm"/>
          </a:ln>
        </p:spPr>
      </p:cxnSp>
      <p:sp>
        <p:nvSpPr>
          <p:cNvPr id="15" name="text-49">
            <a:extLst xmlns:a="http://schemas.openxmlformats.org/drawingml/2006/main">
              <a:ext uri="{FF2B5EF4-FFF2-40B4-BE49-F238E27FC236}">
                <a16:creationId xmlns:a16="http://schemas.microsoft.com/office/drawing/2014/main" id="{EF62A1F6-8BE9-46B3-9037-03FB02469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705600"/>
            <a:ext cx="139827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275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587"/>
                </a:solidFill>
                <a:latin typeface="Microsoft YaHei"/>
                <a:ea typeface="Microsoft YaHei"/>
                <a:cs typeface="Microsoft YaHei"/>
              </a:rPr>
              <a:t>贯穿全链路：身份授权、数据隔离、日志审计、内容安全、人工兜底与异常处置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1767C3-D96C-4E9E-9A55-2F1BB0CFC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10450"/>
            <a:ext cx="13982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7E0"/>
          </a:solidFill>
          <a:ln xmlns:a="http://schemas.openxmlformats.org/drawingml/2006/main" w="0">
            <a:noFill/>
          </a:ln>
        </p:spPr>
      </p:sp>
      <p:sp>
        <p:nvSpPr>
          <p:cNvPr id="17" name="text-50">
            <a:extLst xmlns:a="http://schemas.openxmlformats.org/drawingml/2006/main">
              <a:ext uri="{FF2B5EF4-FFF2-40B4-BE49-F238E27FC236}">
                <a16:creationId xmlns:a16="http://schemas.microsoft.com/office/drawing/2014/main" id="{C6EC390F-7521-42FB-93EF-14D665464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581900"/>
            <a:ext cx="13982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2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2F50"/>
                </a:solidFill>
                <a:latin typeface="Microsoft YaHei"/>
                <a:ea typeface="Microsoft YaHei"/>
                <a:cs typeface="Microsoft YaHei"/>
              </a:rPr>
              <a:t>试点验证依据：规则引用、工具调用回执、业务状态回写、权限与审计记录</a:t>
            </a:r>
          </a:p>
        </p:txBody>
      </p:sp>
    </p:spTree>
    <p:extLst>
      <p:ext uri="{BB962C8B-B14F-4D97-AF65-F5344CB8AC3E}">
        <p14:creationId xmlns:p14="http://schemas.microsoft.com/office/powerpoint/2010/main" val="167361026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text-51">
            <a:extLst xmlns:a="http://schemas.openxmlformats.org/drawingml/2006/main">
              <a:ext uri="{FF2B5EF4-FFF2-40B4-BE49-F238E27FC236}">
                <a16:creationId xmlns:a16="http://schemas.microsoft.com/office/drawing/2014/main" id="{AF41469B-875D-4007-80C8-200E1766A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9575"/>
            <a:ext cx="76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84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847E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" name="text-52">
            <a:extLst xmlns:a="http://schemas.openxmlformats.org/drawingml/2006/main">
              <a:ext uri="{FF2B5EF4-FFF2-40B4-BE49-F238E27FC236}">
                <a16:creationId xmlns:a16="http://schemas.microsoft.com/office/drawing/2014/main" id="{90FB32B1-B534-4D7E-A839-0363FF32F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85825"/>
            <a:ext cx="13982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42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42F50"/>
                </a:solidFill>
                <a:latin typeface="Microsoft YaHei"/>
                <a:ea typeface="Microsoft YaHei"/>
                <a:cs typeface="Microsoft YaHei"/>
              </a:rPr>
              <a:t>赛事全场景协同：办赛、参与者与周边文旅服务</a:t>
            </a:r>
          </a:p>
        </p:txBody>
      </p:sp>
      <p:sp>
        <p:nvSpPr>
          <p:cNvPr id="3" name="text-53">
            <a:extLst xmlns:a="http://schemas.openxmlformats.org/drawingml/2006/main">
              <a:ext uri="{FF2B5EF4-FFF2-40B4-BE49-F238E27FC236}">
                <a16:creationId xmlns:a16="http://schemas.microsoft.com/office/drawing/2014/main" id="{D8CB3B27-AA3E-41F2-875D-19D169087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95450"/>
            <a:ext cx="1381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275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27587"/>
                </a:solidFill>
                <a:latin typeface="Microsoft YaHei"/>
                <a:ea typeface="Microsoft YaHei"/>
                <a:cs typeface="Microsoft YaHei"/>
              </a:rPr>
              <a:t>以一次城市周末赛事为例，将主办方、参赛观赛人群和文旅商户的任务串联起来</a:t>
            </a:r>
          </a:p>
        </p:txBody>
      </p:sp>
      <p:sp>
        <p:nvSpPr>
          <p:cNvPr id="4" name="text-54">
            <a:extLst xmlns:a="http://schemas.openxmlformats.org/drawingml/2006/main">
              <a:ext uri="{FF2B5EF4-FFF2-40B4-BE49-F238E27FC236}">
                <a16:creationId xmlns:a16="http://schemas.microsoft.com/office/drawing/2014/main" id="{4A119C0E-DF37-408D-8C77-77CC0F890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12482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5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587"/>
                </a:solidFill>
                <a:latin typeface="Microsoft YaHei"/>
                <a:ea typeface="Microsoft YaHei"/>
                <a:cs typeface="Microsoft YaHei"/>
              </a:rPr>
              <a:t>体育产业项目  V0.53</a:t>
            </a:r>
          </a:p>
        </p:txBody>
      </p:sp>
      <p:sp>
        <p:nvSpPr>
          <p:cNvPr id="5" name="text-55">
            <a:extLst xmlns:a="http://schemas.openxmlformats.org/drawingml/2006/main">
              <a:ext uri="{FF2B5EF4-FFF2-40B4-BE49-F238E27FC236}">
                <a16:creationId xmlns:a16="http://schemas.microsoft.com/office/drawing/2014/main" id="{CA36CD87-5758-4FCD-825B-FD9CFE441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05775"/>
            <a:ext cx="704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275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587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EC0837-3CF9-4B42-A2C7-731489DCF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514600"/>
            <a:ext cx="2819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F5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  提出需求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91FB85-0905-444D-99A7-2D69728AD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514600"/>
            <a:ext cx="2819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F5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  匹配与确认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FFE0C6-39C4-4992-94FA-F99615C9A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514600"/>
            <a:ext cx="2819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F5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  到场与履约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409A9C-0EF6-4504-AD8B-D68E159ED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2514600"/>
            <a:ext cx="2819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F5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  反馈与再服务</a:t>
            </a:r>
          </a:p>
        </p:txBody>
      </p:sp>
      <p:cxnSp>
        <p:nvCxnSpPr>
          <p:cNvPr id="69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467350" y="276225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6847E"/>
            </a:solidFill>
            <a:tailEnd type="triangle" w="sm" len="sm"/>
          </a:ln>
        </p:spPr>
      </p:cxnSp>
      <p:cxnSp>
        <p:nvCxnSpPr>
          <p:cNvPr id="70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8515350" y="276225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6847E"/>
            </a:solidFill>
            <a:tailEnd type="triangle" w="sm" len="sm"/>
          </a:ln>
        </p:spPr>
      </p:cxnSp>
      <p:cxnSp>
        <p:nvCxnSpPr>
          <p:cNvPr id="71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11563350" y="276225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6847E"/>
            </a:solidFill>
            <a:tailEnd type="triangle" w="sm" len="sm"/>
          </a:ln>
        </p:spPr>
      </p:cxnSp>
      <p:sp>
        <p:nvSpPr>
          <p:cNvPr id="13" name="text-56">
            <a:extLst xmlns:a="http://schemas.openxmlformats.org/drawingml/2006/main">
              <a:ext uri="{FF2B5EF4-FFF2-40B4-BE49-F238E27FC236}">
                <a16:creationId xmlns:a16="http://schemas.microsoft.com/office/drawing/2014/main" id="{3AE1A839-B110-4A79-98EA-6B4F768A7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52800"/>
            <a:ext cx="1943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42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42F50"/>
                </a:solidFill>
                <a:latin typeface="Microsoft YaHei"/>
                <a:ea typeface="Microsoft YaHei"/>
                <a:cs typeface="Microsoft YaHei"/>
              </a:rPr>
              <a:t>办赛组织</a:t>
            </a:r>
          </a:p>
        </p:txBody>
      </p:sp>
      <p:sp>
        <p:nvSpPr>
          <p:cNvPr id="14" name="text-57">
            <a:extLst xmlns:a="http://schemas.openxmlformats.org/drawingml/2006/main">
              <a:ext uri="{FF2B5EF4-FFF2-40B4-BE49-F238E27FC236}">
                <a16:creationId xmlns:a16="http://schemas.microsoft.com/office/drawing/2014/main" id="{97DFBB78-841C-49A6-9744-D45A86EC0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00475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275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27587"/>
                </a:solidFill>
                <a:latin typeface="Microsoft YaHei"/>
                <a:ea typeface="Microsoft YaHei"/>
                <a:cs typeface="Microsoft YaHei"/>
              </a:rPr>
              <a:t>主办 / 承办 / 裁判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3F049A-D4EE-435D-88C9-DF294B91C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181350"/>
            <a:ext cx="2819400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8"/>
          </a:solidFill>
          <a:ln xmlns:a="http://schemas.openxmlformats.org/drawingml/2006/main" w="0">
            <a:noFill/>
          </a:ln>
        </p:spPr>
      </p:sp>
      <p:sp>
        <p:nvSpPr>
          <p:cNvPr id="16" name="text-58">
            <a:extLst xmlns:a="http://schemas.openxmlformats.org/drawingml/2006/main">
              <a:ext uri="{FF2B5EF4-FFF2-40B4-BE49-F238E27FC236}">
                <a16:creationId xmlns:a16="http://schemas.microsoft.com/office/drawing/2014/main" id="{11A9D2A1-353A-41DA-A7E3-E7C071396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362325"/>
            <a:ext cx="2628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2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42F50"/>
                </a:solidFill>
                <a:latin typeface="Microsoft YaHei"/>
                <a:ea typeface="Microsoft YaHei"/>
                <a:cs typeface="Microsoft YaHei"/>
              </a:rPr>
              <a:t>人｜提出规则与资源条件</a:t>
            </a:r>
          </a:p>
        </p:txBody>
      </p:sp>
      <p:sp>
        <p:nvSpPr>
          <p:cNvPr id="17" name="text-59">
            <a:extLst xmlns:a="http://schemas.openxmlformats.org/drawingml/2006/main">
              <a:ext uri="{FF2B5EF4-FFF2-40B4-BE49-F238E27FC236}">
                <a16:creationId xmlns:a16="http://schemas.microsoft.com/office/drawing/2014/main" id="{CC090FD3-66CB-487E-A35B-0E7F536CE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762375"/>
            <a:ext cx="26289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63C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63C51"/>
                </a:solidFill>
                <a:latin typeface="Microsoft YaHei"/>
                <a:ea typeface="Microsoft YaHei"/>
                <a:cs typeface="Microsoft YaHei"/>
              </a:rPr>
              <a:t>平台｜梳理约束与缺项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5DAAE6-C11A-4B35-BF91-5EA6A9816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181350"/>
            <a:ext cx="2819400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8"/>
          </a:solidFill>
          <a:ln xmlns:a="http://schemas.openxmlformats.org/drawingml/2006/main" w="0">
            <a:noFill/>
          </a:ln>
        </p:spPr>
      </p:sp>
      <p:sp>
        <p:nvSpPr>
          <p:cNvPr id="19" name="text-60">
            <a:extLst xmlns:a="http://schemas.openxmlformats.org/drawingml/2006/main">
              <a:ext uri="{FF2B5EF4-FFF2-40B4-BE49-F238E27FC236}">
                <a16:creationId xmlns:a16="http://schemas.microsoft.com/office/drawing/2014/main" id="{B45897F5-39FE-4FB3-BE30-F8D0C1EB2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362325"/>
            <a:ext cx="2628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2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42F50"/>
                </a:solidFill>
                <a:latin typeface="Microsoft YaHei"/>
                <a:ea typeface="Microsoft YaHei"/>
                <a:cs typeface="Microsoft YaHei"/>
              </a:rPr>
              <a:t>人｜审定方案与赛程</a:t>
            </a:r>
          </a:p>
        </p:txBody>
      </p:sp>
      <p:sp>
        <p:nvSpPr>
          <p:cNvPr id="20" name="text-61">
            <a:extLst xmlns:a="http://schemas.openxmlformats.org/drawingml/2006/main">
              <a:ext uri="{FF2B5EF4-FFF2-40B4-BE49-F238E27FC236}">
                <a16:creationId xmlns:a16="http://schemas.microsoft.com/office/drawing/2014/main" id="{7FBD9E46-7C21-40B4-8F77-B95F7B413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762375"/>
            <a:ext cx="26289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63C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63C51"/>
                </a:solidFill>
                <a:latin typeface="Microsoft YaHei"/>
                <a:ea typeface="Microsoft YaHei"/>
                <a:cs typeface="Microsoft YaHei"/>
              </a:rPr>
              <a:t>平台｜匹配场地、配置报名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BFCE7D-B7F2-4FDF-A735-D3AB290FE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181350"/>
            <a:ext cx="2819400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8"/>
          </a:solidFill>
          <a:ln xmlns:a="http://schemas.openxmlformats.org/drawingml/2006/main" w="0">
            <a:noFill/>
          </a:ln>
        </p:spPr>
      </p:sp>
      <p:sp>
        <p:nvSpPr>
          <p:cNvPr id="22" name="text-62">
            <a:extLst xmlns:a="http://schemas.openxmlformats.org/drawingml/2006/main">
              <a:ext uri="{FF2B5EF4-FFF2-40B4-BE49-F238E27FC236}">
                <a16:creationId xmlns:a16="http://schemas.microsoft.com/office/drawing/2014/main" id="{B9756611-A15C-4A80-806B-C94B09137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362325"/>
            <a:ext cx="2628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2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42F50"/>
                </a:solidFill>
                <a:latin typeface="Microsoft YaHei"/>
                <a:ea typeface="Microsoft YaHei"/>
                <a:cs typeface="Microsoft YaHei"/>
              </a:rPr>
              <a:t>人｜执裁、确认结果与异常</a:t>
            </a:r>
          </a:p>
        </p:txBody>
      </p:sp>
      <p:sp>
        <p:nvSpPr>
          <p:cNvPr id="23" name="text-63">
            <a:extLst xmlns:a="http://schemas.openxmlformats.org/drawingml/2006/main">
              <a:ext uri="{FF2B5EF4-FFF2-40B4-BE49-F238E27FC236}">
                <a16:creationId xmlns:a16="http://schemas.microsoft.com/office/drawing/2014/main" id="{57B30DC4-413C-4FB5-BC0F-5E72EB36C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762375"/>
            <a:ext cx="26289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63C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63C51"/>
                </a:solidFill>
                <a:latin typeface="Microsoft YaHei"/>
                <a:ea typeface="Microsoft YaHei"/>
                <a:cs typeface="Microsoft YaHei"/>
              </a:rPr>
              <a:t>平台｜同步赛况与变更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8F2943-6FAC-485D-8459-876A816AC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3181350"/>
            <a:ext cx="2819400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8"/>
          </a:solidFill>
          <a:ln xmlns:a="http://schemas.openxmlformats.org/drawingml/2006/main" w="0">
            <a:noFill/>
          </a:ln>
        </p:spPr>
      </p:sp>
      <p:sp>
        <p:nvSpPr>
          <p:cNvPr id="25" name="text-64">
            <a:extLst xmlns:a="http://schemas.openxmlformats.org/drawingml/2006/main">
              <a:ext uri="{FF2B5EF4-FFF2-40B4-BE49-F238E27FC236}">
                <a16:creationId xmlns:a16="http://schemas.microsoft.com/office/drawing/2014/main" id="{E3E5F9AA-6FC3-4D5C-A3E5-32D352D54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3362325"/>
            <a:ext cx="2628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2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42F50"/>
                </a:solidFill>
                <a:latin typeface="Microsoft YaHei"/>
                <a:ea typeface="Microsoft YaHei"/>
                <a:cs typeface="Microsoft YaHei"/>
              </a:rPr>
              <a:t>人｜评估成效、统筹全年活动</a:t>
            </a:r>
          </a:p>
        </p:txBody>
      </p:sp>
      <p:sp>
        <p:nvSpPr>
          <p:cNvPr id="26" name="text-65">
            <a:extLst xmlns:a="http://schemas.openxmlformats.org/drawingml/2006/main">
              <a:ext uri="{FF2B5EF4-FFF2-40B4-BE49-F238E27FC236}">
                <a16:creationId xmlns:a16="http://schemas.microsoft.com/office/drawing/2014/main" id="{7919E9EB-893D-47AA-9526-5D991B4D3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3762375"/>
            <a:ext cx="26289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63C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63C51"/>
                </a:solidFill>
                <a:latin typeface="Microsoft YaHei"/>
                <a:ea typeface="Microsoft YaHei"/>
                <a:cs typeface="Microsoft YaHei"/>
              </a:rPr>
              <a:t>平台｜复盘、维护赛事日历</a:t>
            </a:r>
          </a:p>
        </p:txBody>
      </p:sp>
      <p:sp>
        <p:nvSpPr>
          <p:cNvPr id="27" name="text-66">
            <a:extLst xmlns:a="http://schemas.openxmlformats.org/drawingml/2006/main">
              <a:ext uri="{FF2B5EF4-FFF2-40B4-BE49-F238E27FC236}">
                <a16:creationId xmlns:a16="http://schemas.microsoft.com/office/drawing/2014/main" id="{A8355DCA-7D43-4575-8A05-EF7C104F1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43425"/>
            <a:ext cx="1943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684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6847E"/>
                </a:solidFill>
                <a:latin typeface="Microsoft YaHei"/>
                <a:ea typeface="Microsoft YaHei"/>
                <a:cs typeface="Microsoft YaHei"/>
              </a:rPr>
              <a:t>参与者服务</a:t>
            </a:r>
          </a:p>
        </p:txBody>
      </p:sp>
      <p:sp>
        <p:nvSpPr>
          <p:cNvPr id="28" name="text-67">
            <a:extLst xmlns:a="http://schemas.openxmlformats.org/drawingml/2006/main">
              <a:ext uri="{FF2B5EF4-FFF2-40B4-BE49-F238E27FC236}">
                <a16:creationId xmlns:a16="http://schemas.microsoft.com/office/drawing/2014/main" id="{22BF8CDF-9630-4CBE-8FDB-BD96E7ABC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9110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275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27587"/>
                </a:solidFill>
                <a:latin typeface="Microsoft YaHei"/>
                <a:ea typeface="Microsoft YaHei"/>
                <a:cs typeface="Microsoft YaHei"/>
              </a:rPr>
              <a:t>参赛者 / 观众 / 家庭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F49ED40-0917-4328-A518-0BB029A6E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371975"/>
            <a:ext cx="2819400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2"/>
          </a:solidFill>
          <a:ln xmlns:a="http://schemas.openxmlformats.org/drawingml/2006/main" w="0">
            <a:noFill/>
          </a:ln>
        </p:spPr>
      </p:sp>
      <p:sp>
        <p:nvSpPr>
          <p:cNvPr id="30" name="text-68">
            <a:extLst xmlns:a="http://schemas.openxmlformats.org/drawingml/2006/main">
              <a:ext uri="{FF2B5EF4-FFF2-40B4-BE49-F238E27FC236}">
                <a16:creationId xmlns:a16="http://schemas.microsoft.com/office/drawing/2014/main" id="{75FF9ECF-3DFA-4D07-8264-40633E426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552950"/>
            <a:ext cx="2628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84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847E"/>
                </a:solidFill>
                <a:latin typeface="Microsoft YaHei"/>
                <a:ea typeface="Microsoft YaHei"/>
                <a:cs typeface="Microsoft YaHei"/>
              </a:rPr>
              <a:t>人｜提出参赛或观赛需求</a:t>
            </a:r>
          </a:p>
        </p:txBody>
      </p:sp>
      <p:sp>
        <p:nvSpPr>
          <p:cNvPr id="31" name="text-69">
            <a:extLst xmlns:a="http://schemas.openxmlformats.org/drawingml/2006/main">
              <a:ext uri="{FF2B5EF4-FFF2-40B4-BE49-F238E27FC236}">
                <a16:creationId xmlns:a16="http://schemas.microsoft.com/office/drawing/2014/main" id="{B673BD26-73D7-4563-A93E-ADA35B910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953000"/>
            <a:ext cx="26289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63C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63C51"/>
                </a:solidFill>
                <a:latin typeface="Microsoft YaHei"/>
                <a:ea typeface="Microsoft YaHei"/>
                <a:cs typeface="Microsoft YaHei"/>
              </a:rPr>
              <a:t>平台｜理解同行、时间偏好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A7A82B2-6972-41D6-A106-0806226F5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371975"/>
            <a:ext cx="2819400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2"/>
          </a:solidFill>
          <a:ln xmlns:a="http://schemas.openxmlformats.org/drawingml/2006/main" w="0">
            <a:noFill/>
          </a:ln>
        </p:spPr>
      </p:sp>
      <p:sp>
        <p:nvSpPr>
          <p:cNvPr id="33" name="text-70">
            <a:extLst xmlns:a="http://schemas.openxmlformats.org/drawingml/2006/main">
              <a:ext uri="{FF2B5EF4-FFF2-40B4-BE49-F238E27FC236}">
                <a16:creationId xmlns:a16="http://schemas.microsoft.com/office/drawing/2014/main" id="{09B5DC42-9ED3-4673-88B8-F049E8A79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552950"/>
            <a:ext cx="2628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84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847E"/>
                </a:solidFill>
                <a:latin typeface="Microsoft YaHei"/>
                <a:ea typeface="Microsoft YaHei"/>
                <a:cs typeface="Microsoft YaHei"/>
              </a:rPr>
              <a:t>人｜确认报名与出行安排</a:t>
            </a:r>
          </a:p>
        </p:txBody>
      </p:sp>
      <p:sp>
        <p:nvSpPr>
          <p:cNvPr id="34" name="text-71">
            <a:extLst xmlns:a="http://schemas.openxmlformats.org/drawingml/2006/main">
              <a:ext uri="{FF2B5EF4-FFF2-40B4-BE49-F238E27FC236}">
                <a16:creationId xmlns:a16="http://schemas.microsoft.com/office/drawing/2014/main" id="{4B4861B3-567D-4ECF-875F-E5E78E10C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953000"/>
            <a:ext cx="26289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63C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63C51"/>
                </a:solidFill>
                <a:latin typeface="Microsoft YaHei"/>
                <a:ea typeface="Microsoft YaHei"/>
                <a:cs typeface="Microsoft YaHei"/>
              </a:rPr>
              <a:t>平台｜整合赛程和行程建议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58E43D6-E597-4110-8447-472E26069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371975"/>
            <a:ext cx="2819400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2"/>
          </a:solidFill>
          <a:ln xmlns:a="http://schemas.openxmlformats.org/drawingml/2006/main" w="0">
            <a:noFill/>
          </a:ln>
        </p:spPr>
      </p:sp>
      <p:sp>
        <p:nvSpPr>
          <p:cNvPr id="36" name="text-72">
            <a:extLst xmlns:a="http://schemas.openxmlformats.org/drawingml/2006/main">
              <a:ext uri="{FF2B5EF4-FFF2-40B4-BE49-F238E27FC236}">
                <a16:creationId xmlns:a16="http://schemas.microsoft.com/office/drawing/2014/main" id="{9E29064A-5293-45F2-A69A-2D9C278B4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552950"/>
            <a:ext cx="2628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84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847E"/>
                </a:solidFill>
                <a:latin typeface="Microsoft YaHei"/>
                <a:ea typeface="Microsoft YaHei"/>
                <a:cs typeface="Microsoft YaHei"/>
              </a:rPr>
              <a:t>人｜签到、参赛或观赛</a:t>
            </a:r>
          </a:p>
        </p:txBody>
      </p:sp>
      <p:sp>
        <p:nvSpPr>
          <p:cNvPr id="37" name="text-73">
            <a:extLst xmlns:a="http://schemas.openxmlformats.org/drawingml/2006/main">
              <a:ext uri="{FF2B5EF4-FFF2-40B4-BE49-F238E27FC236}">
                <a16:creationId xmlns:a16="http://schemas.microsoft.com/office/drawing/2014/main" id="{A10A6D5C-26FE-4964-BCFD-FB2041589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953000"/>
            <a:ext cx="26289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63C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63C51"/>
                </a:solidFill>
                <a:latin typeface="Microsoft YaHei"/>
                <a:ea typeface="Microsoft YaHei"/>
                <a:cs typeface="Microsoft YaHei"/>
              </a:rPr>
              <a:t>平台｜提醒场次、提供指引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EABFF50-8572-44AA-98EE-5FE45F667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4371975"/>
            <a:ext cx="2819400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2"/>
          </a:solidFill>
          <a:ln xmlns:a="http://schemas.openxmlformats.org/drawingml/2006/main" w="0">
            <a:noFill/>
          </a:ln>
        </p:spPr>
      </p:sp>
      <p:sp>
        <p:nvSpPr>
          <p:cNvPr id="39" name="text-74">
            <a:extLst xmlns:a="http://schemas.openxmlformats.org/drawingml/2006/main">
              <a:ext uri="{FF2B5EF4-FFF2-40B4-BE49-F238E27FC236}">
                <a16:creationId xmlns:a16="http://schemas.microsoft.com/office/drawing/2014/main" id="{5AB193D0-C761-49E5-8719-808170627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4552950"/>
            <a:ext cx="2628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84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847E"/>
                </a:solidFill>
                <a:latin typeface="Microsoft YaHei"/>
                <a:ea typeface="Microsoft YaHei"/>
                <a:cs typeface="Microsoft YaHei"/>
              </a:rPr>
              <a:t>人｜反馈体验、选择后续活动</a:t>
            </a:r>
          </a:p>
        </p:txBody>
      </p:sp>
      <p:sp>
        <p:nvSpPr>
          <p:cNvPr id="40" name="text-75">
            <a:extLst xmlns:a="http://schemas.openxmlformats.org/drawingml/2006/main">
              <a:ext uri="{FF2B5EF4-FFF2-40B4-BE49-F238E27FC236}">
                <a16:creationId xmlns:a16="http://schemas.microsoft.com/office/drawing/2014/main" id="{F6E704FD-23DF-4CD3-A96A-517E4A31C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4953000"/>
            <a:ext cx="26289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63C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63C51"/>
                </a:solidFill>
                <a:latin typeface="Microsoft YaHei"/>
                <a:ea typeface="Microsoft YaHei"/>
                <a:cs typeface="Microsoft YaHei"/>
              </a:rPr>
              <a:t>平台｜关联主题活动与复参</a:t>
            </a:r>
          </a:p>
        </p:txBody>
      </p:sp>
      <p:sp>
        <p:nvSpPr>
          <p:cNvPr id="41" name="text-76">
            <a:extLst xmlns:a="http://schemas.openxmlformats.org/drawingml/2006/main">
              <a:ext uri="{FF2B5EF4-FFF2-40B4-BE49-F238E27FC236}">
                <a16:creationId xmlns:a16="http://schemas.microsoft.com/office/drawing/2014/main" id="{24672207-B7DE-49B2-8FE9-4964F4CD2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34050"/>
            <a:ext cx="1943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42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42F50"/>
                </a:solidFill>
                <a:latin typeface="Microsoft YaHei"/>
                <a:ea typeface="Microsoft YaHei"/>
                <a:cs typeface="Microsoft YaHei"/>
              </a:rPr>
              <a:t>周边文旅</a:t>
            </a:r>
          </a:p>
        </p:txBody>
      </p:sp>
      <p:sp>
        <p:nvSpPr>
          <p:cNvPr id="42" name="text-77">
            <a:extLst xmlns:a="http://schemas.openxmlformats.org/drawingml/2006/main">
              <a:ext uri="{FF2B5EF4-FFF2-40B4-BE49-F238E27FC236}">
                <a16:creationId xmlns:a16="http://schemas.microsoft.com/office/drawing/2014/main" id="{92C029FA-53A2-4681-8F2E-BA4EE3D4C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81725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275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27587"/>
                </a:solidFill>
                <a:latin typeface="Microsoft YaHei"/>
                <a:ea typeface="Microsoft YaHei"/>
                <a:cs typeface="Microsoft YaHei"/>
              </a:rPr>
              <a:t>景区 / 餐饮 / 住宿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8312A58-992E-46F3-8DD3-2E38BBEFE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562600"/>
            <a:ext cx="2819400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8"/>
          </a:solidFill>
          <a:ln xmlns:a="http://schemas.openxmlformats.org/drawingml/2006/main" w="0">
            <a:noFill/>
          </a:ln>
        </p:spPr>
      </p:sp>
      <p:sp>
        <p:nvSpPr>
          <p:cNvPr id="44" name="text-78">
            <a:extLst xmlns:a="http://schemas.openxmlformats.org/drawingml/2006/main">
              <a:ext uri="{FF2B5EF4-FFF2-40B4-BE49-F238E27FC236}">
                <a16:creationId xmlns:a16="http://schemas.microsoft.com/office/drawing/2014/main" id="{672F0897-D886-4C58-88AD-F04A95FB1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743575"/>
            <a:ext cx="2628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2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42F50"/>
                </a:solidFill>
                <a:latin typeface="Microsoft YaHei"/>
                <a:ea typeface="Microsoft YaHei"/>
                <a:cs typeface="Microsoft YaHei"/>
              </a:rPr>
              <a:t>人｜商户提供可用服务</a:t>
            </a:r>
          </a:p>
        </p:txBody>
      </p:sp>
      <p:sp>
        <p:nvSpPr>
          <p:cNvPr id="45" name="text-79">
            <a:extLst xmlns:a="http://schemas.openxmlformats.org/drawingml/2006/main">
              <a:ext uri="{FF2B5EF4-FFF2-40B4-BE49-F238E27FC236}">
                <a16:creationId xmlns:a16="http://schemas.microsoft.com/office/drawing/2014/main" id="{8359A3C7-C4E8-4F60-9F2E-5BE94011D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6143625"/>
            <a:ext cx="26289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63C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63C51"/>
                </a:solidFill>
                <a:latin typeface="Microsoft YaHei"/>
                <a:ea typeface="Microsoft YaHei"/>
                <a:cs typeface="Microsoft YaHei"/>
              </a:rPr>
              <a:t>平台｜整理时段与预约规则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0587160-93DC-41D7-B130-6264E9BD0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5562600"/>
            <a:ext cx="2819400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8"/>
          </a:solidFill>
          <a:ln xmlns:a="http://schemas.openxmlformats.org/drawingml/2006/main" w="0">
            <a:noFill/>
          </a:ln>
        </p:spPr>
      </p:sp>
      <p:sp>
        <p:nvSpPr>
          <p:cNvPr id="47" name="text-80">
            <a:extLst xmlns:a="http://schemas.openxmlformats.org/drawingml/2006/main">
              <a:ext uri="{FF2B5EF4-FFF2-40B4-BE49-F238E27FC236}">
                <a16:creationId xmlns:a16="http://schemas.microsoft.com/office/drawing/2014/main" id="{75679305-A1B3-4639-9718-479F8D5F1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5743575"/>
            <a:ext cx="2628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2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42F50"/>
                </a:solidFill>
                <a:latin typeface="Microsoft YaHei"/>
                <a:ea typeface="Microsoft YaHei"/>
                <a:cs typeface="Microsoft YaHei"/>
              </a:rPr>
              <a:t>人｜用户选择、商户确认</a:t>
            </a:r>
          </a:p>
        </p:txBody>
      </p:sp>
      <p:sp>
        <p:nvSpPr>
          <p:cNvPr id="48" name="text-81">
            <a:extLst xmlns:a="http://schemas.openxmlformats.org/drawingml/2006/main">
              <a:ext uri="{FF2B5EF4-FFF2-40B4-BE49-F238E27FC236}">
                <a16:creationId xmlns:a16="http://schemas.microsoft.com/office/drawing/2014/main" id="{135CA27D-1CC4-47ED-8A73-EA38A2236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6143625"/>
            <a:ext cx="26289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63C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63C51"/>
                </a:solidFill>
                <a:latin typeface="Microsoft YaHei"/>
                <a:ea typeface="Microsoft YaHei"/>
                <a:cs typeface="Microsoft YaHei"/>
              </a:rPr>
              <a:t>平台｜按赛程与距离匹配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5720FF2-41F0-42FC-9565-5DB52BB2E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562600"/>
            <a:ext cx="2819400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8"/>
          </a:solidFill>
          <a:ln xmlns:a="http://schemas.openxmlformats.org/drawingml/2006/main" w="0">
            <a:noFill/>
          </a:ln>
        </p:spPr>
      </p:sp>
      <p:sp>
        <p:nvSpPr>
          <p:cNvPr id="50" name="text-82">
            <a:extLst xmlns:a="http://schemas.openxmlformats.org/drawingml/2006/main">
              <a:ext uri="{FF2B5EF4-FFF2-40B4-BE49-F238E27FC236}">
                <a16:creationId xmlns:a16="http://schemas.microsoft.com/office/drawing/2014/main" id="{6B625111-9BE4-4F8B-9C05-707255C15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743575"/>
            <a:ext cx="2628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2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42F50"/>
                </a:solidFill>
                <a:latin typeface="Microsoft YaHei"/>
                <a:ea typeface="Microsoft YaHei"/>
                <a:cs typeface="Microsoft YaHei"/>
              </a:rPr>
              <a:t>人｜商户接待、用户消费</a:t>
            </a:r>
          </a:p>
        </p:txBody>
      </p:sp>
      <p:sp>
        <p:nvSpPr>
          <p:cNvPr id="51" name="text-83">
            <a:extLst xmlns:a="http://schemas.openxmlformats.org/drawingml/2006/main">
              <a:ext uri="{FF2B5EF4-FFF2-40B4-BE49-F238E27FC236}">
                <a16:creationId xmlns:a16="http://schemas.microsoft.com/office/drawing/2014/main" id="{49D09AE1-2101-47F8-88C1-5DACCEEC5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6143625"/>
            <a:ext cx="26289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63C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63C51"/>
                </a:solidFill>
                <a:latin typeface="Microsoft YaHei"/>
                <a:ea typeface="Microsoft YaHei"/>
                <a:cs typeface="Microsoft YaHei"/>
              </a:rPr>
              <a:t>平台｜协同预约与履约状态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CDE0455-8F09-442D-84D2-EA08BD85C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5562600"/>
            <a:ext cx="2819400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8"/>
          </a:solidFill>
          <a:ln xmlns:a="http://schemas.openxmlformats.org/drawingml/2006/main" w="0">
            <a:noFill/>
          </a:ln>
        </p:spPr>
      </p:sp>
      <p:sp>
        <p:nvSpPr>
          <p:cNvPr id="53" name="text-84">
            <a:extLst xmlns:a="http://schemas.openxmlformats.org/drawingml/2006/main">
              <a:ext uri="{FF2B5EF4-FFF2-40B4-BE49-F238E27FC236}">
                <a16:creationId xmlns:a16="http://schemas.microsoft.com/office/drawing/2014/main" id="{981CF900-D8FA-4495-8479-B940FFB07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5743575"/>
            <a:ext cx="2628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2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42F50"/>
                </a:solidFill>
                <a:latin typeface="Microsoft YaHei"/>
                <a:ea typeface="Microsoft YaHei"/>
                <a:cs typeface="Microsoft YaHei"/>
              </a:rPr>
              <a:t>人｜核对履约、安排持续合作</a:t>
            </a:r>
          </a:p>
        </p:txBody>
      </p:sp>
      <p:sp>
        <p:nvSpPr>
          <p:cNvPr id="54" name="text-85">
            <a:extLst xmlns:a="http://schemas.openxmlformats.org/drawingml/2006/main">
              <a:ext uri="{FF2B5EF4-FFF2-40B4-BE49-F238E27FC236}">
                <a16:creationId xmlns:a16="http://schemas.microsoft.com/office/drawing/2014/main" id="{2BA4EC4F-ADD4-4464-B342-821161733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6143625"/>
            <a:ext cx="26289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63C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63C51"/>
                </a:solidFill>
                <a:latin typeface="Microsoft YaHei"/>
                <a:ea typeface="Microsoft YaHei"/>
                <a:cs typeface="Microsoft YaHei"/>
              </a:rPr>
              <a:t>平台｜汇总反馈与权益记录</a:t>
            </a:r>
          </a:p>
        </p:txBody>
      </p:sp>
      <p:sp>
        <p:nvSpPr>
          <p:cNvPr id="55" name="text-86">
            <a:extLst xmlns:a="http://schemas.openxmlformats.org/drawingml/2006/main">
              <a:ext uri="{FF2B5EF4-FFF2-40B4-BE49-F238E27FC236}">
                <a16:creationId xmlns:a16="http://schemas.microsoft.com/office/drawing/2014/main" id="{2D6A8355-570B-4FA7-9592-3AC0D6D10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791325"/>
            <a:ext cx="2000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84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847E"/>
                </a:solidFill>
                <a:latin typeface="Microsoft YaHei"/>
                <a:ea typeface="Microsoft YaHei"/>
                <a:cs typeface="Microsoft YaHei"/>
              </a:rPr>
              <a:t>跨角色联动</a:t>
            </a:r>
          </a:p>
        </p:txBody>
      </p:sp>
      <p:sp>
        <p:nvSpPr>
          <p:cNvPr id="56" name="text-87">
            <a:extLst xmlns:a="http://schemas.openxmlformats.org/drawingml/2006/main">
              <a:ext uri="{FF2B5EF4-FFF2-40B4-BE49-F238E27FC236}">
                <a16:creationId xmlns:a16="http://schemas.microsoft.com/office/drawing/2014/main" id="{DD4E9FCD-BC2C-42F9-AFE1-AF81D00AF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6800850"/>
            <a:ext cx="1196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2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2F50"/>
                </a:solidFill>
                <a:latin typeface="Microsoft YaHei"/>
                <a:ea typeface="Microsoft YaHei"/>
                <a:cs typeface="Microsoft YaHei"/>
              </a:rPr>
              <a:t>赛程变更 → 参与者收到提醒 → 周边预约协商调整 → 服务结果回传</a:t>
            </a:r>
          </a:p>
        </p:txBody>
      </p:sp>
      <p:sp>
        <p:nvSpPr>
          <p:cNvPr id="57" name="text-88">
            <a:extLst xmlns:a="http://schemas.openxmlformats.org/drawingml/2006/main">
              <a:ext uri="{FF2B5EF4-FFF2-40B4-BE49-F238E27FC236}">
                <a16:creationId xmlns:a16="http://schemas.microsoft.com/office/drawing/2014/main" id="{322C12D9-86C4-4D2B-9A7B-07DAF8846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248525"/>
            <a:ext cx="13982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84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847E"/>
                </a:solidFill>
                <a:latin typeface="Microsoft YaHei"/>
                <a:ea typeface="Microsoft YaHei"/>
                <a:cs typeface="Microsoft YaHei"/>
              </a:rPr>
              <a:t>年度运营：赛事日历与主题季、内容与社群、参与记录与复参、权益履约与复盘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DDA2CBC-5004-4B53-956A-2C94C25E6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648575"/>
            <a:ext cx="13982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7E0"/>
          </a:solidFill>
          <a:ln xmlns:a="http://schemas.openxmlformats.org/drawingml/2006/main" w="0">
            <a:noFill/>
          </a:ln>
        </p:spPr>
      </p:sp>
      <p:sp>
        <p:nvSpPr>
          <p:cNvPr id="59" name="text-89">
            <a:extLst xmlns:a="http://schemas.openxmlformats.org/drawingml/2006/main">
              <a:ext uri="{FF2B5EF4-FFF2-40B4-BE49-F238E27FC236}">
                <a16:creationId xmlns:a16="http://schemas.microsoft.com/office/drawing/2014/main" id="{40706B9D-2B19-492B-9030-D5EA7ABCD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781925"/>
            <a:ext cx="1398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275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27587"/>
                </a:solidFill>
                <a:latin typeface="Microsoft YaHei"/>
                <a:ea typeface="Microsoft YaHei"/>
                <a:cs typeface="Microsoft YaHei"/>
              </a:rPr>
              <a:t>Agent连接赛事OS、场馆OS、用户OS及文旅服务接口；关键事项由相应角色确认</a:t>
            </a:r>
          </a:p>
        </p:txBody>
      </p:sp>
    </p:spTree>
    <p:extLst>
      <p:ext uri="{BB962C8B-B14F-4D97-AF65-F5344CB8AC3E}">
        <p14:creationId xmlns:p14="http://schemas.microsoft.com/office/powerpoint/2010/main" val="107849616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90">
            <a:extLst xmlns:a="http://schemas.openxmlformats.org/drawingml/2006/main">
              <a:ext uri="{FF2B5EF4-FFF2-40B4-BE49-F238E27FC236}">
                <a16:creationId xmlns:a16="http://schemas.microsoft.com/office/drawing/2014/main" id="{83944098-B297-4D44-9542-304B78D00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9575"/>
            <a:ext cx="76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84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847E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" name="text-91">
            <a:extLst xmlns:a="http://schemas.openxmlformats.org/drawingml/2006/main">
              <a:ext uri="{FF2B5EF4-FFF2-40B4-BE49-F238E27FC236}">
                <a16:creationId xmlns:a16="http://schemas.microsoft.com/office/drawing/2014/main" id="{E55934BD-CFB5-4CE1-BBE3-CE2BEDF26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85825"/>
            <a:ext cx="13982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42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42F50"/>
                </a:solidFill>
                <a:latin typeface="Microsoft YaHei"/>
                <a:ea typeface="Microsoft YaHei"/>
                <a:cs typeface="Microsoft YaHei"/>
              </a:rPr>
              <a:t>盈利点：谁在什么场景付费，换取什么结果</a:t>
            </a:r>
          </a:p>
        </p:txBody>
      </p:sp>
      <p:sp>
        <p:nvSpPr>
          <p:cNvPr id="3" name="text-92">
            <a:extLst xmlns:a="http://schemas.openxmlformats.org/drawingml/2006/main">
              <a:ext uri="{FF2B5EF4-FFF2-40B4-BE49-F238E27FC236}">
                <a16:creationId xmlns:a16="http://schemas.microsoft.com/office/drawing/2014/main" id="{924036F4-4595-4DDB-B50E-D50FF35B3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95450"/>
            <a:ext cx="1381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275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27587"/>
                </a:solidFill>
                <a:latin typeface="Microsoft YaHei"/>
                <a:ea typeface="Microsoft YaHei"/>
                <a:cs typeface="Microsoft YaHei"/>
              </a:rPr>
              <a:t>以赛事服务、年度运营和资源协同验证付费意愿，同时核算履约与持续运营成本</a:t>
            </a:r>
          </a:p>
        </p:txBody>
      </p:sp>
      <p:sp>
        <p:nvSpPr>
          <p:cNvPr id="4" name="text-93">
            <a:extLst xmlns:a="http://schemas.openxmlformats.org/drawingml/2006/main">
              <a:ext uri="{FF2B5EF4-FFF2-40B4-BE49-F238E27FC236}">
                <a16:creationId xmlns:a16="http://schemas.microsoft.com/office/drawing/2014/main" id="{A999C848-BCC4-4F97-AE5C-98795B03E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12482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5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587"/>
                </a:solidFill>
                <a:latin typeface="Microsoft YaHei"/>
                <a:ea typeface="Microsoft YaHei"/>
                <a:cs typeface="Microsoft YaHei"/>
              </a:rPr>
              <a:t>体育产业项目  V0.53</a:t>
            </a:r>
          </a:p>
        </p:txBody>
      </p:sp>
      <p:sp>
        <p:nvSpPr>
          <p:cNvPr id="5" name="text-94">
            <a:extLst xmlns:a="http://schemas.openxmlformats.org/drawingml/2006/main">
              <a:ext uri="{FF2B5EF4-FFF2-40B4-BE49-F238E27FC236}">
                <a16:creationId xmlns:a16="http://schemas.microsoft.com/office/drawing/2014/main" id="{156E20B8-16E9-45BE-BC30-BE5372A21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05775"/>
            <a:ext cx="704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275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587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628650" y="2524125"/>
          <a:ext xmlns:a="http://schemas.openxmlformats.org/drawingml/2006/main" cx="139827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3438525"/>
                <a:gridCol w="4191000"/>
                <a:gridCol w="3305175"/>
              </a:tblGrid>
              <a:tr h="800100">
                <a:tc>
                  <a:txBody>
                    <a:bodyPr lIns="152400" tIns="95250" rIns="152400" bIns="95250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场景 / 付费角色</a:t>
                      </a:r>
                    </a:p>
                  </a:txBody>
                  <a:tcPr marL="91440" marR="91440" marT="45720" marB="45720" anchor="ctr">
                    <a:solidFill>
                      <a:srgbClr val="142F50"/>
                    </a:solidFill>
                  </a:tcPr>
                </a:tc>
                <a:tc>
                  <a:txBody>
                    <a:bodyPr lIns="152400" tIns="95250" rIns="152400" bIns="95250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付费理由与服务结果</a:t>
                      </a:r>
                    </a:p>
                  </a:txBody>
                  <a:tcPr marL="91440" marR="91440" marT="45720" marB="45720" anchor="ctr">
                    <a:solidFill>
                      <a:srgbClr val="142F50"/>
                    </a:solidFill>
                  </a:tcPr>
                </a:tc>
                <a:tc>
                  <a:txBody>
                    <a:bodyPr lIns="152400" tIns="95250" rIns="152400" bIns="95250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交付与收费依据</a:t>
                      </a:r>
                    </a:p>
                  </a:txBody>
                  <a:tcPr marL="91440" marR="91440" marT="45720" marB="45720" anchor="ctr">
                    <a:solidFill>
                      <a:srgbClr val="142F50"/>
                    </a:solidFill>
                  </a:tcPr>
                </a:tc>
                <a:tc>
                  <a:txBody>
                    <a:bodyPr lIns="152400" tIns="95250" rIns="152400" bIns="95250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重点成本</a:t>
                      </a:r>
                    </a:p>
                  </a:txBody>
                  <a:tcPr marL="91440" marR="91440" marT="45720" marB="45720" anchor="ctr">
                    <a:solidFill>
                      <a:srgbClr val="142F50"/>
                    </a:solidFill>
                  </a:tcPr>
                </a:tc>
              </a:tr>
              <a:tr h="800100">
                <a:tc>
                  <a:txBody>
                    <a:bodyPr lIns="152400" tIns="95250" rIns="152400" bIns="95250"/>
                    <a:lstStyle/>
                    <a:p>
                      <a:r>
                        <a:rPr sz="1500" b="0">
                          <a:solidFill>
                            <a:srgbClr val="263C5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赛事筹办与代运营</a:t>
                      </a:r>
                    </a:p>
                    <a:p>
                      <a:r>
                        <a:rPr sz="1500" b="0">
                          <a:solidFill>
                            <a:srgbClr val="263C5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主办方、企业及职工赛事组织方</a:t>
                      </a:r>
                    </a:p>
                  </a:txBody>
                  <a:tcPr marL="91440" marR="91440" marT="45720" marB="45720" anchor="ctr">
                    <a:solidFill>
                      <a:srgbClr val="EFF4F8"/>
                    </a:solidFill>
                  </a:tcPr>
                </a:tc>
                <a:tc>
                  <a:txBody>
                    <a:bodyPr lIns="152400" tIns="95250" rIns="152400" bIns="95250"/>
                    <a:lstStyle/>
                    <a:p>
                      <a:r>
                        <a:rPr sz="1500" b="0">
                          <a:solidFill>
                            <a:srgbClr val="263C5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减少重复组织与协调</a:t>
                      </a:r>
                    </a:p>
                    <a:p>
                      <a:r>
                        <a:rPr sz="1500" b="0">
                          <a:solidFill>
                            <a:srgbClr val="263C5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获得方案、执行及复盘服务</a:t>
                      </a:r>
                    </a:p>
                  </a:txBody>
                  <a:tcPr marL="91440" marR="91440" marT="45720" marB="45720" anchor="ctr">
                    <a:solidFill>
                      <a:srgbClr val="EFF4F8"/>
                    </a:solidFill>
                  </a:tcPr>
                </a:tc>
                <a:tc>
                  <a:txBody>
                    <a:bodyPr lIns="152400" tIns="95250" rIns="152400" bIns="95250"/>
                    <a:lstStyle/>
                    <a:p>
                      <a:r>
                        <a:rPr sz="1500" b="0">
                          <a:solidFill>
                            <a:srgbClr val="263C5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方案、编排、报名及约定执行</a:t>
                      </a:r>
                    </a:p>
                    <a:p>
                      <a:r>
                        <a:rPr sz="1500" b="0">
                          <a:solidFill>
                            <a:srgbClr val="263C5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按场次或专项服务合同收费</a:t>
                      </a:r>
                    </a:p>
                  </a:txBody>
                  <a:tcPr marL="91440" marR="91440" marT="45720" marB="45720" anchor="ctr">
                    <a:solidFill>
                      <a:srgbClr val="EFF4F8"/>
                    </a:solidFill>
                  </a:tcPr>
                </a:tc>
                <a:tc>
                  <a:txBody>
                    <a:bodyPr lIns="152400" tIns="95250" rIns="152400" bIns="95250"/>
                    <a:lstStyle/>
                    <a:p>
                      <a:r>
                        <a:rPr sz="1500" b="0">
                          <a:solidFill>
                            <a:srgbClr val="263C5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方案复核、人员与现场执行</a:t>
                      </a:r>
                    </a:p>
                    <a:p>
                      <a:r>
                        <a:rPr sz="1500" b="0">
                          <a:solidFill>
                            <a:srgbClr val="263C5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工具调用、集成及客户支持</a:t>
                      </a:r>
                    </a:p>
                  </a:txBody>
                  <a:tcPr marL="91440" marR="91440" marT="45720" marB="45720" anchor="ctr">
                    <a:solidFill>
                      <a:srgbClr val="EFF4F8"/>
                    </a:solidFill>
                  </a:tcPr>
                </a:tc>
              </a:tr>
              <a:tr h="800100">
                <a:tc>
                  <a:txBody>
                    <a:bodyPr lIns="152400" tIns="95250" rIns="152400" bIns="95250"/>
                    <a:lstStyle/>
                    <a:p>
                      <a:r>
                        <a:rPr sz="1500" b="0">
                          <a:solidFill>
                            <a:srgbClr val="263C5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品牌合作与赛事组合</a:t>
                      </a:r>
                    </a:p>
                    <a:p>
                      <a:r>
                        <a:rPr sz="1500" b="0">
                          <a:solidFill>
                            <a:srgbClr val="263C5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品牌方、赞助商、活动合作方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52400" bIns="95250"/>
                    <a:lstStyle/>
                    <a:p>
                      <a:r>
                        <a:rPr sz="1500" b="0">
                          <a:solidFill>
                            <a:srgbClr val="263C5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获得明确的触达和展示权益</a:t>
                      </a:r>
                    </a:p>
                    <a:p>
                      <a:r>
                        <a:rPr sz="1500" b="0">
                          <a:solidFill>
                            <a:srgbClr val="263C5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按约定完成活动及履约反馈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52400" bIns="95250"/>
                    <a:lstStyle/>
                    <a:p>
                      <a:r>
                        <a:rPr sz="1500" b="0">
                          <a:solidFill>
                            <a:srgbClr val="263C5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年度赛事组合、主题活动与赞助权益</a:t>
                      </a:r>
                    </a:p>
                    <a:p>
                      <a:r>
                        <a:rPr sz="1500" b="0">
                          <a:solidFill>
                            <a:srgbClr val="263C5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按授权范围和合同约定收费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52400" bIns="95250"/>
                    <a:lstStyle/>
                    <a:p>
                      <a:r>
                        <a:rPr sz="1500" b="0">
                          <a:solidFill>
                            <a:srgbClr val="263C5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招商、内容与活动执行</a:t>
                      </a:r>
                    </a:p>
                    <a:p>
                      <a:r>
                        <a:rPr sz="1500" b="0">
                          <a:solidFill>
                            <a:srgbClr val="263C5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权益交付、验收及合作分配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 lIns="152400" tIns="95250" rIns="152400" bIns="95250"/>
                    <a:lstStyle/>
                    <a:p>
                      <a:r>
                        <a:rPr sz="1500" b="0">
                          <a:solidFill>
                            <a:srgbClr val="263C5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场馆与机构日常运营</a:t>
                      </a:r>
                    </a:p>
                    <a:p>
                      <a:r>
                        <a:rPr sz="1500" b="0">
                          <a:solidFill>
                            <a:srgbClr val="263C5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场馆、俱乐部、培训机构</a:t>
                      </a:r>
                    </a:p>
                  </a:txBody>
                  <a:tcPr marL="91440" marR="91440" marT="45720" marB="45720" anchor="ctr">
                    <a:solidFill>
                      <a:srgbClr val="EFF4F8"/>
                    </a:solidFill>
                  </a:tcPr>
                </a:tc>
                <a:tc>
                  <a:txBody>
                    <a:bodyPr lIns="152400" tIns="95250" rIns="152400" bIns="95250"/>
                    <a:lstStyle/>
                    <a:p>
                      <a:r>
                        <a:rPr sz="1500" b="0">
                          <a:solidFill>
                            <a:srgbClr val="263C5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减少重复咨询与预约处理</a:t>
                      </a:r>
                    </a:p>
                    <a:p>
                      <a:r>
                        <a:rPr sz="1500" b="0">
                          <a:solidFill>
                            <a:srgbClr val="263C5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改善会员服务和资源使用</a:t>
                      </a:r>
                    </a:p>
                  </a:txBody>
                  <a:tcPr marL="91440" marR="91440" marT="45720" marB="45720" anchor="ctr">
                    <a:solidFill>
                      <a:srgbClr val="EFF4F8"/>
                    </a:solidFill>
                  </a:tcPr>
                </a:tc>
                <a:tc>
                  <a:txBody>
                    <a:bodyPr lIns="152400" tIns="95250" rIns="152400" bIns="95250"/>
                    <a:lstStyle/>
                    <a:p>
                      <a:r>
                        <a:rPr sz="1500" b="0">
                          <a:solidFill>
                            <a:srgbClr val="263C5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AI客服、预约辅助、会员运营</a:t>
                      </a:r>
                    </a:p>
                    <a:p>
                      <a:r>
                        <a:rPr sz="1500" b="0">
                          <a:solidFill>
                            <a:srgbClr val="263C5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工具订阅或运营服务费</a:t>
                      </a:r>
                    </a:p>
                  </a:txBody>
                  <a:tcPr marL="91440" marR="91440" marT="45720" marB="45720" anchor="ctr">
                    <a:solidFill>
                      <a:srgbClr val="EFF4F8"/>
                    </a:solidFill>
                  </a:tcPr>
                </a:tc>
                <a:tc>
                  <a:txBody>
                    <a:bodyPr lIns="152400" tIns="95250" rIns="152400" bIns="95250"/>
                    <a:lstStyle/>
                    <a:p>
                      <a:r>
                        <a:rPr sz="1500" b="0">
                          <a:solidFill>
                            <a:srgbClr val="263C5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接口接入、知识与算力</a:t>
                      </a:r>
                    </a:p>
                    <a:p>
                      <a:r>
                        <a:rPr sz="1500" b="0">
                          <a:solidFill>
                            <a:srgbClr val="263C5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运营人员、支持及获客</a:t>
                      </a:r>
                    </a:p>
                  </a:txBody>
                  <a:tcPr marL="91440" marR="91440" marT="45720" marB="45720" anchor="ctr">
                    <a:solidFill>
                      <a:srgbClr val="EFF4F8"/>
                    </a:solidFill>
                  </a:tcPr>
                </a:tc>
              </a:tr>
              <a:tr h="800100">
                <a:tc>
                  <a:txBody>
                    <a:bodyPr lIns="152400" tIns="95250" rIns="152400" bIns="95250"/>
                    <a:lstStyle/>
                    <a:p>
                      <a:r>
                        <a:rPr sz="1500" b="0">
                          <a:solidFill>
                            <a:srgbClr val="263C5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赛事带动文旅商服务</a:t>
                      </a:r>
                    </a:p>
                    <a:p>
                      <a:r>
                        <a:rPr sz="1500" b="0">
                          <a:solidFill>
                            <a:srgbClr val="263C5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商户、服务机构与合作方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52400" bIns="95250"/>
                    <a:lstStyle/>
                    <a:p>
                      <a:r>
                        <a:rPr sz="1500" b="0">
                          <a:solidFill>
                            <a:srgbClr val="263C5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获得可核验的服务连接</a:t>
                      </a:r>
                    </a:p>
                    <a:p>
                      <a:r>
                        <a:rPr sz="1500" b="0">
                          <a:solidFill>
                            <a:srgbClr val="263C5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以及活动组织和履约支持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52400" bIns="95250"/>
                    <a:lstStyle/>
                    <a:p>
                      <a:r>
                        <a:rPr sz="1500" b="0">
                          <a:solidFill>
                            <a:srgbClr val="263C5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联合活动、资源连接、预约协同</a:t>
                      </a:r>
                    </a:p>
                    <a:p>
                      <a:r>
                        <a:rPr sz="1500" b="0">
                          <a:solidFill>
                            <a:srgbClr val="263C5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策划运营费或约定合作收入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52400" bIns="95250"/>
                    <a:lstStyle/>
                    <a:p>
                      <a:r>
                        <a:rPr sz="1500" b="0">
                          <a:solidFill>
                            <a:srgbClr val="263C5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内容、资源组织及履约客服</a:t>
                      </a:r>
                    </a:p>
                    <a:p>
                      <a:r>
                        <a:rPr sz="1500" b="0">
                          <a:solidFill>
                            <a:srgbClr val="263C5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结算与合作方分配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-95">
            <a:extLst xmlns:a="http://schemas.openxmlformats.org/drawingml/2006/main">
              <a:ext uri="{FF2B5EF4-FFF2-40B4-BE49-F238E27FC236}">
                <a16:creationId xmlns:a16="http://schemas.microsoft.com/office/drawing/2014/main" id="{0BC4E7A3-A428-4EC4-AF65-91C43AEB3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74370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84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847E"/>
                </a:solidFill>
                <a:latin typeface="Microsoft YaHei"/>
                <a:ea typeface="Microsoft YaHei"/>
                <a:cs typeface="Microsoft YaHei"/>
              </a:rPr>
              <a:t>项目建设与运维</a:t>
            </a:r>
          </a:p>
        </p:txBody>
      </p:sp>
      <p:sp>
        <p:nvSpPr>
          <p:cNvPr id="8" name="text-96">
            <a:extLst xmlns:a="http://schemas.openxmlformats.org/drawingml/2006/main">
              <a:ext uri="{FF2B5EF4-FFF2-40B4-BE49-F238E27FC236}">
                <a16:creationId xmlns:a16="http://schemas.microsoft.com/office/drawing/2014/main" id="{10D44363-9B52-4498-B579-340E7E6FC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6762750"/>
            <a:ext cx="11125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63C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63C51"/>
                </a:solidFill>
                <a:latin typeface="Microsoft YaHei"/>
                <a:ea typeface="Microsoft YaHei"/>
                <a:cs typeface="Microsoft YaHei"/>
              </a:rPr>
              <a:t>按专项合同明确交付、服务周期、投入与验收；公共和市场服务分层核算</a:t>
            </a:r>
          </a:p>
        </p:txBody>
      </p:sp>
      <p:sp>
        <p:nvSpPr>
          <p:cNvPr id="9" name="text-97">
            <a:extLst xmlns:a="http://schemas.openxmlformats.org/drawingml/2006/main">
              <a:ext uri="{FF2B5EF4-FFF2-40B4-BE49-F238E27FC236}">
                <a16:creationId xmlns:a16="http://schemas.microsoft.com/office/drawing/2014/main" id="{02B9045E-C8FC-42BC-824D-5FA84DB35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2199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2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2F50"/>
                </a:solidFill>
                <a:latin typeface="Microsoft YaHei"/>
                <a:ea typeface="Microsoft YaHei"/>
                <a:cs typeface="Microsoft YaHei"/>
              </a:rPr>
              <a:t>经营验证</a:t>
            </a:r>
          </a:p>
        </p:txBody>
      </p:sp>
      <p:sp>
        <p:nvSpPr>
          <p:cNvPr id="10" name="text-98">
            <a:extLst xmlns:a="http://schemas.openxmlformats.org/drawingml/2006/main">
              <a:ext uri="{FF2B5EF4-FFF2-40B4-BE49-F238E27FC236}">
                <a16:creationId xmlns:a16="http://schemas.microsoft.com/office/drawing/2014/main" id="{6ACEFD77-7234-4C83-B398-B2E6D700E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7239000"/>
            <a:ext cx="11125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42F50"/>
                </a:solidFill>
                <a:latin typeface="Microsoft YaHei"/>
                <a:ea typeface="Microsoft YaHei"/>
                <a:cs typeface="Microsoft YaHei"/>
              </a:rPr>
              <a:t>权益授权 → 服务交付 → 履约验收 → 收入与成本核算 → 持续投入</a:t>
            </a:r>
          </a:p>
        </p:txBody>
      </p:sp>
      <p:sp>
        <p:nvSpPr>
          <p:cNvPr id="11" name="text-99">
            <a:extLst xmlns:a="http://schemas.openxmlformats.org/drawingml/2006/main">
              <a:ext uri="{FF2B5EF4-FFF2-40B4-BE49-F238E27FC236}">
                <a16:creationId xmlns:a16="http://schemas.microsoft.com/office/drawing/2014/main" id="{12B13151-D79E-4D40-9F6F-11626661C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724775"/>
            <a:ext cx="13982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275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27587"/>
                </a:solidFill>
                <a:latin typeface="Microsoft YaHei"/>
                <a:ea typeface="Microsoft YaHei"/>
                <a:cs typeface="Microsoft YaHei"/>
              </a:rPr>
              <a:t>赛事消费、报名费、赞助款与平台服务收入分别确认归属；收入成本与现金收支分别观察</a:t>
            </a:r>
          </a:p>
        </p:txBody>
      </p:sp>
    </p:spTree>
    <p:extLst>
      <p:ext uri="{BB962C8B-B14F-4D97-AF65-F5344CB8AC3E}">
        <p14:creationId xmlns:p14="http://schemas.microsoft.com/office/powerpoint/2010/main" val="163987801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ext-100">
            <a:extLst xmlns:a="http://schemas.openxmlformats.org/drawingml/2006/main">
              <a:ext uri="{FF2B5EF4-FFF2-40B4-BE49-F238E27FC236}">
                <a16:creationId xmlns:a16="http://schemas.microsoft.com/office/drawing/2014/main" id="{A47AA32A-94F7-4A05-BE61-3C2CECBDC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9575"/>
            <a:ext cx="76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84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847E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2" name="text-101">
            <a:extLst xmlns:a="http://schemas.openxmlformats.org/drawingml/2006/main">
              <a:ext uri="{FF2B5EF4-FFF2-40B4-BE49-F238E27FC236}">
                <a16:creationId xmlns:a16="http://schemas.microsoft.com/office/drawing/2014/main" id="{1C8690E3-7BC7-4272-9DD9-4BB84DC6B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85825"/>
            <a:ext cx="13982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42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42F50"/>
                </a:solidFill>
                <a:latin typeface="Microsoft YaHei"/>
                <a:ea typeface="Microsoft YaHei"/>
                <a:cs typeface="Microsoft YaHei"/>
              </a:rPr>
              <a:t>第一批交付：赛事报名业务闭环</a:t>
            </a:r>
          </a:p>
        </p:txBody>
      </p:sp>
      <p:sp>
        <p:nvSpPr>
          <p:cNvPr id="3" name="text-102">
            <a:extLst xmlns:a="http://schemas.openxmlformats.org/drawingml/2006/main">
              <a:ext uri="{FF2B5EF4-FFF2-40B4-BE49-F238E27FC236}">
                <a16:creationId xmlns:a16="http://schemas.microsoft.com/office/drawing/2014/main" id="{FCFB5A2E-3193-40DB-901E-713F20D81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95450"/>
            <a:ext cx="1381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275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27587"/>
                </a:solidFill>
                <a:latin typeface="Microsoft YaHei"/>
                <a:ea typeface="Microsoft YaHei"/>
                <a:cs typeface="Microsoft YaHei"/>
              </a:rPr>
              <a:t>长期架构分批进入，首批先形成一个真实可用的业务节点</a:t>
            </a:r>
          </a:p>
        </p:txBody>
      </p:sp>
      <p:sp>
        <p:nvSpPr>
          <p:cNvPr id="4" name="text-103">
            <a:extLst xmlns:a="http://schemas.openxmlformats.org/drawingml/2006/main">
              <a:ext uri="{FF2B5EF4-FFF2-40B4-BE49-F238E27FC236}">
                <a16:creationId xmlns:a16="http://schemas.microsoft.com/office/drawing/2014/main" id="{5193BA3D-827D-44F5-9582-17D9C6DBD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12482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5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587"/>
                </a:solidFill>
                <a:latin typeface="Microsoft YaHei"/>
                <a:ea typeface="Microsoft YaHei"/>
                <a:cs typeface="Microsoft YaHei"/>
              </a:rPr>
              <a:t>体育产业项目  V0.53</a:t>
            </a:r>
          </a:p>
        </p:txBody>
      </p:sp>
      <p:sp>
        <p:nvSpPr>
          <p:cNvPr id="5" name="text-104">
            <a:extLst xmlns:a="http://schemas.openxmlformats.org/drawingml/2006/main">
              <a:ext uri="{FF2B5EF4-FFF2-40B4-BE49-F238E27FC236}">
                <a16:creationId xmlns:a16="http://schemas.microsoft.com/office/drawing/2014/main" id="{90CC4508-7F4D-4DA3-BD07-EEEAEEAF5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05775"/>
            <a:ext cx="704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275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587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6" name="text-105">
            <a:extLst xmlns:a="http://schemas.openxmlformats.org/drawingml/2006/main">
              <a:ext uri="{FF2B5EF4-FFF2-40B4-BE49-F238E27FC236}">
                <a16:creationId xmlns:a16="http://schemas.microsoft.com/office/drawing/2014/main" id="{A49A1A9F-F52A-4A53-8E7E-4BAEEF938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71750"/>
            <a:ext cx="6096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2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42F50"/>
                </a:solidFill>
                <a:latin typeface="Microsoft YaHei"/>
                <a:ea typeface="Microsoft YaHei"/>
                <a:cs typeface="Microsoft YaHei"/>
              </a:rPr>
              <a:t>第一批交付</a:t>
            </a:r>
          </a:p>
        </p:txBody>
      </p:sp>
      <p:sp>
        <p:nvSpPr>
          <p:cNvPr id="7" name="text-106">
            <a:extLst xmlns:a="http://schemas.openxmlformats.org/drawingml/2006/main">
              <a:ext uri="{FF2B5EF4-FFF2-40B4-BE49-F238E27FC236}">
                <a16:creationId xmlns:a16="http://schemas.microsoft.com/office/drawing/2014/main" id="{1AA16ED3-5064-4524-B591-162DD64B9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76625"/>
            <a:ext cx="6096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25F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25F9A"/>
                </a:solidFill>
                <a:latin typeface="Microsoft YaHei"/>
                <a:ea typeface="Microsoft YaHei"/>
                <a:cs typeface="Microsoft YaHei"/>
              </a:rPr>
              <a:t>2026年</a:t>
            </a:r>
          </a:p>
        </p:txBody>
      </p:sp>
      <p:sp>
        <p:nvSpPr>
          <p:cNvPr id="8" name="text-107">
            <a:extLst xmlns:a="http://schemas.openxmlformats.org/drawingml/2006/main">
              <a:ext uri="{FF2B5EF4-FFF2-40B4-BE49-F238E27FC236}">
                <a16:creationId xmlns:a16="http://schemas.microsoft.com/office/drawing/2014/main" id="{B2D85266-4969-43CF-B688-9B5ACBE6F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67200"/>
            <a:ext cx="626745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625" b="1">
                <a:solidFill>
                  <a:srgbClr val="225F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625" b="1">
                <a:solidFill>
                  <a:srgbClr val="225F9A"/>
                </a:solidFill>
                <a:latin typeface="Microsoft YaHei"/>
                <a:ea typeface="Microsoft YaHei"/>
                <a:cs typeface="Microsoft YaHei"/>
              </a:rPr>
              <a:t>10月15日</a:t>
            </a:r>
          </a:p>
        </p:txBody>
      </p:sp>
      <p:sp>
        <p:nvSpPr>
          <p:cNvPr id="9" name="text-108">
            <a:extLst xmlns:a="http://schemas.openxmlformats.org/drawingml/2006/main">
              <a:ext uri="{FF2B5EF4-FFF2-40B4-BE49-F238E27FC236}">
                <a16:creationId xmlns:a16="http://schemas.microsoft.com/office/drawing/2014/main" id="{F07260D0-FEA9-44C4-9F00-F263AEC05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43575"/>
            <a:ext cx="64674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63C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C51"/>
                </a:solidFill>
                <a:latin typeface="Microsoft YaHei"/>
                <a:ea typeface="Microsoft YaHei"/>
                <a:cs typeface="Microsoft YaHei"/>
              </a:rPr>
              <a:t>赛事创建 → 报名 → 审核</a:t>
            </a:r>
          </a:p>
          <a:p xmlns:a="http://schemas.openxmlformats.org/drawingml/2006/main">
            <a:pPr algn="l">
              <a:defRPr sz="2100" b="0">
                <a:solidFill>
                  <a:srgbClr val="263C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C51"/>
                </a:solidFill>
                <a:latin typeface="Microsoft YaHei"/>
                <a:ea typeface="Microsoft YaHei"/>
                <a:cs typeface="Microsoft YaHei"/>
              </a:rPr>
              <a:t>状态 → 结果查询 → 名单</a:t>
            </a:r>
          </a:p>
        </p:txBody>
      </p:sp>
      <p:sp>
        <p:nvSpPr>
          <p:cNvPr id="10" name="text-109">
            <a:extLst xmlns:a="http://schemas.openxmlformats.org/drawingml/2006/main">
              <a:ext uri="{FF2B5EF4-FFF2-40B4-BE49-F238E27FC236}">
                <a16:creationId xmlns:a16="http://schemas.microsoft.com/office/drawing/2014/main" id="{0291AD23-B561-43B6-8DD9-5814B5065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2581275"/>
            <a:ext cx="6477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42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2F50"/>
                </a:solidFill>
                <a:latin typeface="Microsoft YaHei"/>
                <a:ea typeface="Microsoft YaHei"/>
                <a:cs typeface="Microsoft YaHei"/>
              </a:rPr>
              <a:t>Web用户端</a:t>
            </a:r>
          </a:p>
        </p:txBody>
      </p:sp>
      <p:sp>
        <p:nvSpPr>
          <p:cNvPr id="11" name="text-110">
            <a:extLst xmlns:a="http://schemas.openxmlformats.org/drawingml/2006/main">
              <a:ext uri="{FF2B5EF4-FFF2-40B4-BE49-F238E27FC236}">
                <a16:creationId xmlns:a16="http://schemas.microsoft.com/office/drawing/2014/main" id="{A48BB5CA-562E-4BC0-8E91-9BB3926D9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3209925"/>
            <a:ext cx="65055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63C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63C51"/>
                </a:solidFill>
                <a:latin typeface="Microsoft YaHei"/>
                <a:ea typeface="Microsoft YaHei"/>
                <a:cs typeface="Microsoft YaHei"/>
              </a:rPr>
              <a:t>赛事查看、基础报名、报名结果查询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A2EA73-0F5D-44D6-B689-CAD7A1903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3924300"/>
            <a:ext cx="647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7E0"/>
          </a:solidFill>
          <a:ln xmlns:a="http://schemas.openxmlformats.org/drawingml/2006/main" w="0">
            <a:noFill/>
          </a:ln>
        </p:spPr>
      </p:sp>
      <p:sp>
        <p:nvSpPr>
          <p:cNvPr id="13" name="text-111">
            <a:extLst xmlns:a="http://schemas.openxmlformats.org/drawingml/2006/main">
              <a:ext uri="{FF2B5EF4-FFF2-40B4-BE49-F238E27FC236}">
                <a16:creationId xmlns:a16="http://schemas.microsoft.com/office/drawing/2014/main" id="{61E6335B-4D5A-495E-9734-8FE31D702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4210050"/>
            <a:ext cx="6477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42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2F50"/>
                </a:solidFill>
                <a:latin typeface="Microsoft YaHei"/>
                <a:ea typeface="Microsoft YaHei"/>
                <a:cs typeface="Microsoft YaHei"/>
              </a:rPr>
              <a:t>Web管理端</a:t>
            </a:r>
          </a:p>
        </p:txBody>
      </p:sp>
      <p:sp>
        <p:nvSpPr>
          <p:cNvPr id="14" name="text-112">
            <a:extLst xmlns:a="http://schemas.openxmlformats.org/drawingml/2006/main">
              <a:ext uri="{FF2B5EF4-FFF2-40B4-BE49-F238E27FC236}">
                <a16:creationId xmlns:a16="http://schemas.microsoft.com/office/drawing/2014/main" id="{CEF6416F-3659-4ED5-BCBF-F5843B381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4838700"/>
            <a:ext cx="64865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63C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63C51"/>
                </a:solidFill>
                <a:latin typeface="Microsoft YaHei"/>
                <a:ea typeface="Microsoft YaHei"/>
                <a:cs typeface="Microsoft YaHei"/>
              </a:rPr>
              <a:t>赛事配置、项目 / 组别、报名管理</a:t>
            </a:r>
          </a:p>
          <a:p xmlns:a="http://schemas.openxmlformats.org/drawingml/2006/main">
            <a:pPr algn="l">
              <a:defRPr sz="1875" b="0">
                <a:solidFill>
                  <a:srgbClr val="263C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63C51"/>
                </a:solidFill>
                <a:latin typeface="Microsoft YaHei"/>
                <a:ea typeface="Microsoft YaHei"/>
                <a:cs typeface="Microsoft YaHei"/>
              </a:rPr>
              <a:t>审核、名单与基础权限</a:t>
            </a:r>
          </a:p>
        </p:txBody>
      </p:sp>
      <p:sp>
        <p:nvSpPr>
          <p:cNvPr id="15" name="text-113">
            <a:extLst xmlns:a="http://schemas.openxmlformats.org/drawingml/2006/main">
              <a:ext uri="{FF2B5EF4-FFF2-40B4-BE49-F238E27FC236}">
                <a16:creationId xmlns:a16="http://schemas.microsoft.com/office/drawing/2014/main" id="{D6EC07B7-609E-45CB-9F87-00B495DEC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6000750"/>
            <a:ext cx="647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84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847E"/>
                </a:solidFill>
                <a:latin typeface="Microsoft YaHei"/>
                <a:ea typeface="Microsoft YaHei"/>
                <a:cs typeface="Microsoft YaHei"/>
              </a:rPr>
              <a:t>底座同步形成基础能力</a:t>
            </a:r>
          </a:p>
        </p:txBody>
      </p:sp>
      <p:sp>
        <p:nvSpPr>
          <p:cNvPr id="16" name="text-114">
            <a:extLst xmlns:a="http://schemas.openxmlformats.org/drawingml/2006/main">
              <a:ext uri="{FF2B5EF4-FFF2-40B4-BE49-F238E27FC236}">
                <a16:creationId xmlns:a16="http://schemas.microsoft.com/office/drawing/2014/main" id="{4B8A1671-28E1-47CF-8A62-0678AF3B6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6438900"/>
            <a:ext cx="652462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63C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63C51"/>
                </a:solidFill>
                <a:latin typeface="Microsoft YaHei"/>
                <a:ea typeface="Microsoft YaHei"/>
                <a:cs typeface="Microsoft YaHei"/>
              </a:rPr>
              <a:t>用户身份、赛事业务对象、权限、数据结构</a:t>
            </a:r>
          </a:p>
          <a:p xmlns:a="http://schemas.openxmlformats.org/drawingml/2006/main">
            <a:pPr algn="l">
              <a:defRPr sz="1650" b="0">
                <a:solidFill>
                  <a:srgbClr val="263C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63C51"/>
                </a:solidFill>
                <a:latin typeface="Microsoft YaHei"/>
                <a:ea typeface="Microsoft YaHei"/>
                <a:cs typeface="Microsoft YaHei"/>
              </a:rPr>
              <a:t>基础接口、运行日志与真实业务数据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1BF3E4-2243-4AB1-BDE2-714D39EB5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19975"/>
            <a:ext cx="13982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7E0"/>
          </a:solidFill>
          <a:ln xmlns:a="http://schemas.openxmlformats.org/drawingml/2006/main" w="0">
            <a:noFill/>
          </a:ln>
        </p:spPr>
      </p:sp>
      <p:sp>
        <p:nvSpPr>
          <p:cNvPr id="18" name="text-115">
            <a:extLst xmlns:a="http://schemas.openxmlformats.org/drawingml/2006/main">
              <a:ext uri="{FF2B5EF4-FFF2-40B4-BE49-F238E27FC236}">
                <a16:creationId xmlns:a16="http://schemas.microsoft.com/office/drawing/2014/main" id="{1EAA8124-E881-4286-9C31-CC3D4C55C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591425"/>
            <a:ext cx="13982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2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2F50"/>
                </a:solidFill>
                <a:latin typeface="Microsoft YaHei"/>
                <a:ea typeface="Microsoft YaHei"/>
                <a:cs typeface="Microsoft YaHei"/>
              </a:rPr>
              <a:t>以实际赛事运行验证业务正确性，再确定下一阶段Agent与系统能力的优先级</a:t>
            </a:r>
          </a:p>
        </p:txBody>
      </p:sp>
    </p:spTree>
    <p:extLst>
      <p:ext uri="{BB962C8B-B14F-4D97-AF65-F5344CB8AC3E}">
        <p14:creationId xmlns:p14="http://schemas.microsoft.com/office/powerpoint/2010/main" val="145735268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116">
            <a:extLst xmlns:a="http://schemas.openxmlformats.org/drawingml/2006/main">
              <a:ext uri="{FF2B5EF4-FFF2-40B4-BE49-F238E27FC236}">
                <a16:creationId xmlns:a16="http://schemas.microsoft.com/office/drawing/2014/main" id="{CD9DBBB6-FF0B-493E-B67D-662623607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9575"/>
            <a:ext cx="76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84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847E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2" name="text-117">
            <a:extLst xmlns:a="http://schemas.openxmlformats.org/drawingml/2006/main">
              <a:ext uri="{FF2B5EF4-FFF2-40B4-BE49-F238E27FC236}">
                <a16:creationId xmlns:a16="http://schemas.microsoft.com/office/drawing/2014/main" id="{A0CABC66-EB9C-410D-A6E6-BFA115C6C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85825"/>
            <a:ext cx="13982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42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42F50"/>
                </a:solidFill>
                <a:latin typeface="Microsoft YaHei"/>
                <a:ea typeface="Microsoft YaHei"/>
                <a:cs typeface="Microsoft YaHei"/>
              </a:rPr>
              <a:t>按三个月为基础单位推进能力里程碑</a:t>
            </a:r>
          </a:p>
        </p:txBody>
      </p:sp>
      <p:sp>
        <p:nvSpPr>
          <p:cNvPr id="3" name="text-118">
            <a:extLst xmlns:a="http://schemas.openxmlformats.org/drawingml/2006/main">
              <a:ext uri="{FF2B5EF4-FFF2-40B4-BE49-F238E27FC236}">
                <a16:creationId xmlns:a16="http://schemas.microsoft.com/office/drawing/2014/main" id="{0337AF8E-A589-4E01-943B-B57842626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95450"/>
            <a:ext cx="1381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275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27587"/>
                </a:solidFill>
                <a:latin typeface="Microsoft YaHei"/>
                <a:ea typeface="Microsoft YaHei"/>
                <a:cs typeface="Microsoft YaHei"/>
              </a:rPr>
              <a:t>2026年10月15日为首批节点，后续为建议节奏，阶段评审后确认下一期范围</a:t>
            </a:r>
          </a:p>
        </p:txBody>
      </p:sp>
      <p:sp>
        <p:nvSpPr>
          <p:cNvPr id="4" name="text-119">
            <a:extLst xmlns:a="http://schemas.openxmlformats.org/drawingml/2006/main">
              <a:ext uri="{FF2B5EF4-FFF2-40B4-BE49-F238E27FC236}">
                <a16:creationId xmlns:a16="http://schemas.microsoft.com/office/drawing/2014/main" id="{9890871D-DEA6-486A-A309-F32850489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12482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5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587"/>
                </a:solidFill>
                <a:latin typeface="Microsoft YaHei"/>
                <a:ea typeface="Microsoft YaHei"/>
                <a:cs typeface="Microsoft YaHei"/>
              </a:rPr>
              <a:t>体育产业项目  V0.53</a:t>
            </a:r>
          </a:p>
        </p:txBody>
      </p:sp>
      <p:sp>
        <p:nvSpPr>
          <p:cNvPr id="5" name="text-120">
            <a:extLst xmlns:a="http://schemas.openxmlformats.org/drawingml/2006/main">
              <a:ext uri="{FF2B5EF4-FFF2-40B4-BE49-F238E27FC236}">
                <a16:creationId xmlns:a16="http://schemas.microsoft.com/office/drawing/2014/main" id="{86DFC2CB-FAEC-4CF4-A485-A376698AE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05775"/>
            <a:ext cx="704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275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587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28650" y="2619375"/>
          <a:ext xmlns:a="http://schemas.openxmlformats.org/drawingml/2006/main" cx="13982700" cy="4057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52775"/>
                <a:gridCol w="6762750"/>
                <a:gridCol w="4067175"/>
              </a:tblGrid>
              <a:tr h="811530">
                <a:tc>
                  <a:txBody>
                    <a:bodyPr lIns="152400" tIns="95250" rIns="152400" bIns="95250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阶段与时间</a:t>
                      </a:r>
                    </a:p>
                  </a:txBody>
                  <a:tcPr marL="91440" marR="91440" marT="45720" marB="45720" anchor="ctr">
                    <a:solidFill>
                      <a:srgbClr val="142F50"/>
                    </a:solidFill>
                  </a:tcPr>
                </a:tc>
                <a:tc>
                  <a:txBody>
                    <a:bodyPr lIns="152400" tIns="95250" rIns="152400" bIns="95250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形成的主要能力</a:t>
                      </a:r>
                    </a:p>
                  </a:txBody>
                  <a:tcPr marL="91440" marR="91440" marT="45720" marB="45720" anchor="ctr">
                    <a:solidFill>
                      <a:srgbClr val="142F50"/>
                    </a:solidFill>
                  </a:tcPr>
                </a:tc>
                <a:tc>
                  <a:txBody>
                    <a:bodyPr lIns="152400" tIns="95250" rIns="152400" bIns="95250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可检查的阶段成果</a:t>
                      </a:r>
                    </a:p>
                  </a:txBody>
                  <a:tcPr marL="91440" marR="91440" marT="45720" marB="45720" anchor="ctr">
                    <a:solidFill>
                      <a:srgbClr val="142F50"/>
                    </a:solidFill>
                  </a:tcPr>
                </a:tc>
              </a:tr>
              <a:tr h="811530">
                <a:tc>
                  <a:txBody>
                    <a:bodyPr lIns="152400" tIns="95250" rIns="152400" bIns="95250"/>
                    <a:lstStyle/>
                    <a:p>
                      <a:r>
                        <a:rPr sz="1650" b="0">
                          <a:solidFill>
                            <a:srgbClr val="263C5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首批交付</a:t>
                      </a:r>
                    </a:p>
                    <a:p>
                      <a:r>
                        <a:rPr sz="1650" b="0">
                          <a:solidFill>
                            <a:srgbClr val="263C5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2026年10月15日</a:t>
                      </a:r>
                    </a:p>
                  </a:txBody>
                  <a:tcPr marL="91440" marR="91440" marT="45720" marB="45720" anchor="ctr">
                    <a:solidFill>
                      <a:srgbClr val="EFF4F8"/>
                    </a:solidFill>
                  </a:tcPr>
                </a:tc>
                <a:tc>
                  <a:txBody>
                    <a:bodyPr lIns="152400" tIns="95250" rIns="152400" bIns="95250"/>
                    <a:lstStyle/>
                    <a:p>
                      <a:r>
                        <a:rPr sz="1650" b="0">
                          <a:solidFill>
                            <a:srgbClr val="263C5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底座基础：身份权限、赛事对象、基础接口与日志</a:t>
                      </a:r>
                    </a:p>
                    <a:p>
                      <a:r>
                        <a:rPr sz="1650" b="0">
                          <a:solidFill>
                            <a:srgbClr val="263C5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报名闭环：创建、报名、审核、状态、查询与名单</a:t>
                      </a:r>
                    </a:p>
                  </a:txBody>
                  <a:tcPr marL="91440" marR="91440" marT="45720" marB="45720" anchor="ctr">
                    <a:solidFill>
                      <a:srgbClr val="EFF4F8"/>
                    </a:solidFill>
                  </a:tcPr>
                </a:tc>
                <a:tc>
                  <a:txBody>
                    <a:bodyPr lIns="152400" tIns="95250" rIns="152400" bIns="95250"/>
                    <a:lstStyle/>
                    <a:p>
                      <a:r>
                        <a:rPr sz="1650" b="0">
                          <a:solidFill>
                            <a:srgbClr val="263C5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Web用户端与管理端</a:t>
                      </a:r>
                    </a:p>
                    <a:p>
                      <a:r>
                        <a:rPr sz="1650" b="0">
                          <a:solidFill>
                            <a:srgbClr val="263C5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一场实际赛事的完整报名记录</a:t>
                      </a:r>
                    </a:p>
                  </a:txBody>
                  <a:tcPr marL="91440" marR="91440" marT="45720" marB="45720" anchor="ctr">
                    <a:solidFill>
                      <a:srgbClr val="EFF4F8"/>
                    </a:solidFill>
                  </a:tcPr>
                </a:tc>
              </a:tr>
              <a:tr h="811530">
                <a:tc>
                  <a:txBody>
                    <a:bodyPr lIns="152400" tIns="95250" rIns="152400" bIns="95250"/>
                    <a:lstStyle/>
                    <a:p>
                      <a:r>
                        <a:rPr sz="1650" b="0">
                          <a:solidFill>
                            <a:srgbClr val="263C5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第一阶段</a:t>
                      </a:r>
                    </a:p>
                    <a:p>
                      <a:r>
                        <a:rPr sz="1650" b="0">
                          <a:solidFill>
                            <a:srgbClr val="263C5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首批后0—3个月（建议）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52400" bIns="95250"/>
                    <a:lstStyle/>
                    <a:p>
                      <a:r>
                        <a:rPr sz="1650" b="0">
                          <a:solidFill>
                            <a:srgbClr val="263C5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完善赛事生命周期，补齐赛程、执行与结果业务</a:t>
                      </a:r>
                    </a:p>
                    <a:p>
                      <a:r>
                        <a:rPr sz="1650" b="0">
                          <a:solidFill>
                            <a:srgbClr val="263C5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试点最小Agent，优先验证办赛、编排或内容任务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52400" bIns="95250"/>
                    <a:lstStyle/>
                    <a:p>
                      <a:r>
                        <a:rPr sz="1650" b="0">
                          <a:solidFill>
                            <a:srgbClr val="263C5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经人工确认的任务产出</a:t>
                      </a:r>
                    </a:p>
                    <a:p>
                      <a:r>
                        <a:rPr sz="1650" b="0">
                          <a:solidFill>
                            <a:srgbClr val="263C5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工具调用与业务状态可追踪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11530">
                <a:tc>
                  <a:txBody>
                    <a:bodyPr lIns="152400" tIns="95250" rIns="152400" bIns="95250"/>
                    <a:lstStyle/>
                    <a:p>
                      <a:r>
                        <a:rPr sz="1650" b="0">
                          <a:solidFill>
                            <a:srgbClr val="263C5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第二阶段</a:t>
                      </a:r>
                    </a:p>
                    <a:p>
                      <a:r>
                        <a:rPr sz="1650" b="0">
                          <a:solidFill>
                            <a:srgbClr val="263C5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首批后3—6个月（建议）</a:t>
                      </a:r>
                    </a:p>
                  </a:txBody>
                  <a:tcPr marL="91440" marR="91440" marT="45720" marB="45720" anchor="ctr">
                    <a:solidFill>
                      <a:srgbClr val="EFF4F8"/>
                    </a:solidFill>
                  </a:tcPr>
                </a:tc>
                <a:tc>
                  <a:txBody>
                    <a:bodyPr lIns="152400" tIns="95250" rIns="152400" bIns="95250"/>
                    <a:lstStyle/>
                    <a:p>
                      <a:r>
                        <a:rPr sz="1650" b="0">
                          <a:solidFill>
                            <a:srgbClr val="263C5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分批接入场馆OS和用户OS</a:t>
                      </a:r>
                    </a:p>
                    <a:p>
                      <a:r>
                        <a:rPr sz="1650" b="0">
                          <a:solidFill>
                            <a:srgbClr val="263C5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验证场地时段、用户触达与跨业务协同</a:t>
                      </a:r>
                    </a:p>
                  </a:txBody>
                  <a:tcPr marL="91440" marR="91440" marT="45720" marB="45720" anchor="ctr">
                    <a:solidFill>
                      <a:srgbClr val="EFF4F8"/>
                    </a:solidFill>
                  </a:tcPr>
                </a:tc>
                <a:tc>
                  <a:txBody>
                    <a:bodyPr lIns="152400" tIns="95250" rIns="152400" bIns="95250"/>
                    <a:lstStyle/>
                    <a:p>
                      <a:r>
                        <a:rPr sz="1650" b="0">
                          <a:solidFill>
                            <a:srgbClr val="263C5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一个跨系统服务闭环</a:t>
                      </a:r>
                    </a:p>
                    <a:p>
                      <a:r>
                        <a:rPr sz="1650" b="0">
                          <a:solidFill>
                            <a:srgbClr val="263C5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权限、接口与协同责任清晰</a:t>
                      </a:r>
                    </a:p>
                  </a:txBody>
                  <a:tcPr marL="91440" marR="91440" marT="45720" marB="45720" anchor="ctr">
                    <a:solidFill>
                      <a:srgbClr val="EFF4F8"/>
                    </a:solidFill>
                  </a:tcPr>
                </a:tc>
              </a:tr>
              <a:tr h="811530">
                <a:tc>
                  <a:txBody>
                    <a:bodyPr lIns="152400" tIns="95250" rIns="152400" bIns="95250"/>
                    <a:lstStyle/>
                    <a:p>
                      <a:r>
                        <a:rPr sz="1650" b="0">
                          <a:solidFill>
                            <a:srgbClr val="263C5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第三阶段</a:t>
                      </a:r>
                    </a:p>
                    <a:p>
                      <a:r>
                        <a:rPr sz="1650" b="0">
                          <a:solidFill>
                            <a:srgbClr val="263C5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首批后6—9个月（建议）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52400" bIns="95250"/>
                    <a:lstStyle/>
                    <a:p>
                      <a:r>
                        <a:rPr sz="1650" b="0">
                          <a:solidFill>
                            <a:srgbClr val="263C5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扩展N项赛事活动和专项Agent</a:t>
                      </a:r>
                    </a:p>
                    <a:p>
                      <a:r>
                        <a:rPr sz="1650" b="0">
                          <a:solidFill>
                            <a:srgbClr val="263C5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结合真实需求验证企业服务与市场合作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52400" bIns="95250"/>
                    <a:lstStyle/>
                    <a:p>
                      <a:r>
                        <a:rPr sz="1650" b="0">
                          <a:solidFill>
                            <a:srgbClr val="263C5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可复用规则与流程模板</a:t>
                      </a:r>
                    </a:p>
                    <a:p>
                      <a:r>
                        <a:rPr sz="1650" b="0">
                          <a:solidFill>
                            <a:srgbClr val="263C5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新增服务、运营成本与付费证据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-121">
            <a:extLst xmlns:a="http://schemas.openxmlformats.org/drawingml/2006/main">
              <a:ext uri="{FF2B5EF4-FFF2-40B4-BE49-F238E27FC236}">
                <a16:creationId xmlns:a16="http://schemas.microsoft.com/office/drawing/2014/main" id="{38117FCF-1A35-4D78-9092-FFB6AC932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134225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684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6847E"/>
                </a:solidFill>
                <a:latin typeface="Microsoft YaHei"/>
                <a:ea typeface="Microsoft YaHei"/>
                <a:cs typeface="Microsoft YaHei"/>
              </a:rPr>
              <a:t>每三个月评审</a:t>
            </a:r>
          </a:p>
        </p:txBody>
      </p:sp>
      <p:sp>
        <p:nvSpPr>
          <p:cNvPr id="8" name="text-122">
            <a:extLst xmlns:a="http://schemas.openxmlformats.org/drawingml/2006/main">
              <a:ext uri="{FF2B5EF4-FFF2-40B4-BE49-F238E27FC236}">
                <a16:creationId xmlns:a16="http://schemas.microsoft.com/office/drawing/2014/main" id="{4BAB30C3-B8C9-4496-92EB-A69C63B88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7153275"/>
            <a:ext cx="108585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63C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63C51"/>
                </a:solidFill>
                <a:latin typeface="Microsoft YaHei"/>
                <a:ea typeface="Microsoft YaHei"/>
                <a:cs typeface="Microsoft YaHei"/>
              </a:rPr>
              <a:t>核对业务可用性、AI任务质量、协同条件和新增价值，再进入下一阶段</a:t>
            </a:r>
          </a:p>
        </p:txBody>
      </p:sp>
    </p:spTree>
    <p:extLst>
      <p:ext uri="{BB962C8B-B14F-4D97-AF65-F5344CB8AC3E}">
        <p14:creationId xmlns:p14="http://schemas.microsoft.com/office/powerpoint/2010/main" val="11442928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-123">
            <a:extLst xmlns:a="http://schemas.openxmlformats.org/drawingml/2006/main">
              <a:ext uri="{FF2B5EF4-FFF2-40B4-BE49-F238E27FC236}">
                <a16:creationId xmlns:a16="http://schemas.microsoft.com/office/drawing/2014/main" id="{14F35331-C146-4F3D-88C7-2357F03AD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9575"/>
            <a:ext cx="76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84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847E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2" name="text-124">
            <a:extLst xmlns:a="http://schemas.openxmlformats.org/drawingml/2006/main">
              <a:ext uri="{FF2B5EF4-FFF2-40B4-BE49-F238E27FC236}">
                <a16:creationId xmlns:a16="http://schemas.microsoft.com/office/drawing/2014/main" id="{4581918F-2374-4EE1-838F-F7E21A245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85825"/>
            <a:ext cx="13982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42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42F50"/>
                </a:solidFill>
                <a:latin typeface="Microsoft YaHei"/>
                <a:ea typeface="Microsoft YaHei"/>
                <a:cs typeface="Microsoft YaHei"/>
              </a:rPr>
              <a:t>协同机制：明确三方职责与分阶段配合事项</a:t>
            </a:r>
          </a:p>
        </p:txBody>
      </p:sp>
      <p:sp>
        <p:nvSpPr>
          <p:cNvPr id="3" name="text-125">
            <a:extLst xmlns:a="http://schemas.openxmlformats.org/drawingml/2006/main">
              <a:ext uri="{FF2B5EF4-FFF2-40B4-BE49-F238E27FC236}">
                <a16:creationId xmlns:a16="http://schemas.microsoft.com/office/drawing/2014/main" id="{66303147-3092-45E5-9D79-98D534FBA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95450"/>
            <a:ext cx="1381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275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27587"/>
                </a:solidFill>
                <a:latin typeface="Microsoft YaHei"/>
                <a:ea typeface="Microsoft YaHei"/>
                <a:cs typeface="Microsoft YaHei"/>
              </a:rPr>
              <a:t>建议分工与授权需共同确认；以真实试点落实业务、投入、履约和运行责任</a:t>
            </a:r>
          </a:p>
        </p:txBody>
      </p:sp>
      <p:sp>
        <p:nvSpPr>
          <p:cNvPr id="4" name="text-126">
            <a:extLst xmlns:a="http://schemas.openxmlformats.org/drawingml/2006/main">
              <a:ext uri="{FF2B5EF4-FFF2-40B4-BE49-F238E27FC236}">
                <a16:creationId xmlns:a16="http://schemas.microsoft.com/office/drawing/2014/main" id="{8FE22F14-D849-4E3C-8787-D44BFD744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12482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5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587"/>
                </a:solidFill>
                <a:latin typeface="Microsoft YaHei"/>
                <a:ea typeface="Microsoft YaHei"/>
                <a:cs typeface="Microsoft YaHei"/>
              </a:rPr>
              <a:t>体育产业项目  V0.53</a:t>
            </a:r>
          </a:p>
        </p:txBody>
      </p:sp>
      <p:sp>
        <p:nvSpPr>
          <p:cNvPr id="5" name="text-127">
            <a:extLst xmlns:a="http://schemas.openxmlformats.org/drawingml/2006/main">
              <a:ext uri="{FF2B5EF4-FFF2-40B4-BE49-F238E27FC236}">
                <a16:creationId xmlns:a16="http://schemas.microsoft.com/office/drawing/2014/main" id="{D2F964FA-F763-4818-B405-540C988CD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05775"/>
            <a:ext cx="704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275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587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B5CB60-74FA-4C50-BD05-02DECEA72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57450"/>
            <a:ext cx="43243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F5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体育局侧</a:t>
            </a:r>
          </a:p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公共服务方向、赛事与公共资源协调</a:t>
            </a:r>
          </a:p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服务标准与业务评审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3964FD-14F4-4DA7-AC6D-D47E8C12C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2457450"/>
            <a:ext cx="43243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42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2F50"/>
                </a:solidFill>
                <a:latin typeface="Microsoft YaHei"/>
                <a:ea typeface="Microsoft YaHei"/>
                <a:cs typeface="Microsoft YaHei"/>
              </a:rPr>
              <a:t>文化发展平台 / 拟定运营主体</a:t>
            </a:r>
          </a:p>
          <a:p xmlns:a="http://schemas.openxmlformats.org/drawingml/2006/main">
            <a:pPr algn="ctr">
              <a:defRPr sz="1725" b="1">
                <a:solidFill>
                  <a:srgbClr val="142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2F50"/>
                </a:solidFill>
                <a:latin typeface="Microsoft YaHei"/>
                <a:ea typeface="Microsoft YaHei"/>
                <a:cs typeface="Microsoft YaHei"/>
              </a:rPr>
              <a:t>招商、赛事执行、商户与客户服务</a:t>
            </a:r>
          </a:p>
          <a:p xmlns:a="http://schemas.openxmlformats.org/drawingml/2006/main">
            <a:pPr algn="ctr">
              <a:defRPr sz="1725" b="1">
                <a:solidFill>
                  <a:srgbClr val="142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2F50"/>
                </a:solidFill>
                <a:latin typeface="Microsoft YaHei"/>
                <a:ea typeface="Microsoft YaHei"/>
                <a:cs typeface="Microsoft YaHei"/>
              </a:rPr>
              <a:t>经营结算及履约责任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DDF8B5-A60D-4F41-8959-B6717B3D7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457450"/>
            <a:ext cx="43243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684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847E"/>
                </a:solidFill>
                <a:latin typeface="Microsoft YaHei"/>
                <a:ea typeface="Microsoft YaHei"/>
                <a:cs typeface="Microsoft YaHei"/>
              </a:rPr>
              <a:t>技术建设方</a:t>
            </a:r>
          </a:p>
          <a:p xmlns:a="http://schemas.openxmlformats.org/drawingml/2006/main">
            <a:pPr algn="ctr">
              <a:defRPr sz="1725" b="1">
                <a:solidFill>
                  <a:srgbClr val="1684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847E"/>
                </a:solidFill>
                <a:latin typeface="Microsoft YaHei"/>
                <a:ea typeface="Microsoft YaHei"/>
                <a:cs typeface="Microsoft YaHei"/>
              </a:rPr>
              <a:t>产品建设、接口与数据治理</a:t>
            </a:r>
          </a:p>
          <a:p xmlns:a="http://schemas.openxmlformats.org/drawingml/2006/main">
            <a:pPr algn="ctr">
              <a:defRPr sz="1725" b="1">
                <a:solidFill>
                  <a:srgbClr val="1684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847E"/>
                </a:solidFill>
                <a:latin typeface="Microsoft YaHei"/>
                <a:ea typeface="Microsoft YaHei"/>
                <a:cs typeface="Microsoft YaHei"/>
              </a:rPr>
              <a:t>AI能力、运维及迭代</a:t>
            </a:r>
          </a:p>
        </p:txBody>
      </p:sp>
      <p:graphicFrame>
        <p:nvGraphicFramePr>
          <p:cNvPr id="24" name=""/>
          <p:cNvGraphicFramePr/>
          <p:nvPr/>
        </p:nvGraphicFramePr>
        <p:xfrm>
          <a:off xmlns:a="http://schemas.openxmlformats.org/drawingml/2006/main" x="628650" y="3724275"/>
          <a:ext xmlns:a="http://schemas.openxmlformats.org/drawingml/2006/main" cx="13982700" cy="2552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3962400"/>
                <a:gridCol w="4152900"/>
                <a:gridCol w="4152900"/>
              </a:tblGrid>
              <a:tr h="638175">
                <a:tc>
                  <a:txBody>
                    <a:bodyPr lIns="152400" tIns="95250" rIns="152400" bIns="95250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</a:t>
                      </a:r>
                    </a:p>
                  </a:txBody>
                  <a:tcPr marL="91440" marR="91440" marT="45720" marB="45720" anchor="ctr">
                    <a:solidFill>
                      <a:srgbClr val="142F50"/>
                    </a:solidFill>
                  </a:tcPr>
                </a:tc>
                <a:tc>
                  <a:txBody>
                    <a:bodyPr lIns="152400" tIns="95250" rIns="152400" bIns="95250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体育局侧</a:t>
                      </a:r>
                    </a:p>
                  </a:txBody>
                  <a:tcPr marL="91440" marR="91440" marT="45720" marB="45720" anchor="ctr">
                    <a:solidFill>
                      <a:srgbClr val="142F50"/>
                    </a:solidFill>
                  </a:tcPr>
                </a:tc>
                <a:tc>
                  <a:txBody>
                    <a:bodyPr lIns="152400" tIns="95250" rIns="152400" bIns="95250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文化发展平台侧</a:t>
                      </a:r>
                    </a:p>
                  </a:txBody>
                  <a:tcPr marL="91440" marR="91440" marT="45720" marB="45720" anchor="ctr">
                    <a:solidFill>
                      <a:srgbClr val="142F50"/>
                    </a:solidFill>
                  </a:tcPr>
                </a:tc>
                <a:tc>
                  <a:txBody>
                    <a:bodyPr lIns="152400" tIns="95250" rIns="152400" bIns="95250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技术建设方</a:t>
                      </a:r>
                    </a:p>
                  </a:txBody>
                  <a:tcPr marL="91440" marR="91440" marT="45720" marB="45720" anchor="ctr">
                    <a:solidFill>
                      <a:srgbClr val="142F50"/>
                    </a:solidFill>
                  </a:tcPr>
                </a:tc>
              </a:tr>
              <a:tr h="638175">
                <a:tc>
                  <a:txBody>
                    <a:bodyPr lIns="152400" tIns="95250" rIns="152400" bIns="95250"/>
                    <a:lstStyle/>
                    <a:p>
                      <a:r>
                        <a:rPr sz="1500" b="0">
                          <a:solidFill>
                            <a:srgbClr val="263C5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P0 首期落实</a:t>
                      </a:r>
                    </a:p>
                  </a:txBody>
                  <a:tcPr marL="91440" marR="91440" marT="45720" marB="45720" anchor="ctr">
                    <a:solidFill>
                      <a:srgbClr val="EFF4F8"/>
                    </a:solidFill>
                  </a:tcPr>
                </a:tc>
                <a:tc>
                  <a:txBody>
                    <a:bodyPr lIns="152400" tIns="95250" rIns="152400" bIns="95250"/>
                    <a:lstStyle/>
                    <a:p>
                      <a:r>
                        <a:rPr sz="1500" b="0">
                          <a:solidFill>
                            <a:srgbClr val="263C5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首场赛事、规则、业务负责人</a:t>
                      </a:r>
                    </a:p>
                    <a:p>
                      <a:r>
                        <a:rPr sz="1500" b="0">
                          <a:solidFill>
                            <a:srgbClr val="263C5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角色权限、数据与品牌授权路径</a:t>
                      </a:r>
                    </a:p>
                  </a:txBody>
                  <a:tcPr marL="91440" marR="91440" marT="45720" marB="45720" anchor="ctr">
                    <a:solidFill>
                      <a:srgbClr val="EFF4F8"/>
                    </a:solidFill>
                  </a:tcPr>
                </a:tc>
                <a:tc>
                  <a:txBody>
                    <a:bodyPr lIns="152400" tIns="95250" rIns="152400" bIns="95250"/>
                    <a:lstStyle/>
                    <a:p>
                      <a:r>
                        <a:rPr sz="1500" b="0">
                          <a:solidFill>
                            <a:srgbClr val="263C5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牵头及试点运营主体、投入安排</a:t>
                      </a:r>
                    </a:p>
                    <a:p>
                      <a:r>
                        <a:rPr sz="1500" b="0">
                          <a:solidFill>
                            <a:srgbClr val="263C5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收费主体、必要履约与结算规则</a:t>
                      </a:r>
                    </a:p>
                  </a:txBody>
                  <a:tcPr marL="91440" marR="91440" marT="45720" marB="45720" anchor="ctr">
                    <a:solidFill>
                      <a:srgbClr val="EFF4F8"/>
                    </a:solidFill>
                  </a:tcPr>
                </a:tc>
                <a:tc>
                  <a:txBody>
                    <a:bodyPr lIns="152400" tIns="95250" rIns="152400" bIns="95250"/>
                    <a:lstStyle/>
                    <a:p>
                      <a:r>
                        <a:rPr sz="1500" b="0">
                          <a:solidFill>
                            <a:srgbClr val="263C5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首批范围、接口及运行条件</a:t>
                      </a:r>
                    </a:p>
                    <a:p>
                      <a:r>
                        <a:rPr sz="1500" b="0">
                          <a:solidFill>
                            <a:srgbClr val="263C5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权限、服务边界与验收清单</a:t>
                      </a:r>
                    </a:p>
                  </a:txBody>
                  <a:tcPr marL="91440" marR="91440" marT="45720" marB="45720" anchor="ctr">
                    <a:solidFill>
                      <a:srgbClr val="EFF4F8"/>
                    </a:solidFill>
                  </a:tcPr>
                </a:tc>
              </a:tr>
              <a:tr h="638175">
                <a:tc>
                  <a:txBody>
                    <a:bodyPr lIns="152400" tIns="95250" rIns="152400" bIns="95250"/>
                    <a:lstStyle/>
                    <a:p>
                      <a:r>
                        <a:rPr sz="1500" b="0">
                          <a:solidFill>
                            <a:srgbClr val="263C5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P1 试点配合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52400" bIns="95250"/>
                    <a:lstStyle/>
                    <a:p>
                      <a:r>
                        <a:rPr sz="1500" b="0">
                          <a:solidFill>
                            <a:srgbClr val="263C5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协调场馆、协会、裁判等资源</a:t>
                      </a:r>
                    </a:p>
                    <a:p>
                      <a:r>
                        <a:rPr sz="1500" b="0">
                          <a:solidFill>
                            <a:srgbClr val="263C5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组织试用、规则确认和业务评审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52400" bIns="95250"/>
                    <a:lstStyle/>
                    <a:p>
                      <a:r>
                        <a:rPr sz="1500" b="0">
                          <a:solidFill>
                            <a:srgbClr val="263C5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年度赛事日历与合作资源清单</a:t>
                      </a:r>
                    </a:p>
                    <a:p>
                      <a:r>
                        <a:rPr sz="1500" b="0">
                          <a:solidFill>
                            <a:srgbClr val="263C5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试点运营、权益交付与效果记录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52400" bIns="95250"/>
                    <a:lstStyle/>
                    <a:p>
                      <a:r>
                        <a:rPr sz="1500" b="0">
                          <a:solidFill>
                            <a:srgbClr val="263C5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最小Agent任务、跨系统衔接</a:t>
                      </a:r>
                    </a:p>
                    <a:p>
                      <a:r>
                        <a:rPr sz="1500" b="0">
                          <a:solidFill>
                            <a:srgbClr val="263C5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运行日志、质量与成本记录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 lIns="152400" tIns="95250" rIns="152400" bIns="95250"/>
                    <a:lstStyle/>
                    <a:p>
                      <a:r>
                        <a:rPr sz="1500" b="0">
                          <a:solidFill>
                            <a:srgbClr val="263C5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P2 评审后明确</a:t>
                      </a:r>
                    </a:p>
                  </a:txBody>
                  <a:tcPr marL="91440" marR="91440" marT="45720" marB="45720" anchor="ctr">
                    <a:solidFill>
                      <a:srgbClr val="EFF4F8"/>
                    </a:solidFill>
                  </a:tcPr>
                </a:tc>
                <a:tc>
                  <a:txBody>
                    <a:bodyPr lIns="152400" tIns="95250" rIns="152400" bIns="95250"/>
                    <a:lstStyle/>
                    <a:p>
                      <a:r>
                        <a:rPr sz="1500" b="0">
                          <a:solidFill>
                            <a:srgbClr val="263C5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后续场景、资源开放与评审安排</a:t>
                      </a:r>
                    </a:p>
                    <a:p>
                      <a:r>
                        <a:rPr sz="1500" b="0">
                          <a:solidFill>
                            <a:srgbClr val="263C5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公共服务效果及扩展条件</a:t>
                      </a:r>
                    </a:p>
                  </a:txBody>
                  <a:tcPr marL="91440" marR="91440" marT="45720" marB="45720" anchor="ctr">
                    <a:solidFill>
                      <a:srgbClr val="EFF4F8"/>
                    </a:solidFill>
                  </a:tcPr>
                </a:tc>
                <a:tc>
                  <a:txBody>
                    <a:bodyPr lIns="152400" tIns="95250" rIns="152400" bIns="95250"/>
                    <a:lstStyle/>
                    <a:p>
                      <a:r>
                        <a:rPr sz="1500" b="0">
                          <a:solidFill>
                            <a:srgbClr val="263C5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长期运营、成本收益与合作机制</a:t>
                      </a:r>
                    </a:p>
                    <a:p>
                      <a:r>
                        <a:rPr sz="1500" b="0">
                          <a:solidFill>
                            <a:srgbClr val="263C5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品牌使用、复制与退出安排</a:t>
                      </a:r>
                    </a:p>
                  </a:txBody>
                  <a:tcPr marL="91440" marR="91440" marT="45720" marB="45720" anchor="ctr">
                    <a:solidFill>
                      <a:srgbClr val="EFF4F8"/>
                    </a:solidFill>
                  </a:tcPr>
                </a:tc>
                <a:tc>
                  <a:txBody>
                    <a:bodyPr lIns="152400" tIns="95250" rIns="152400" bIns="95250"/>
                    <a:lstStyle/>
                    <a:p>
                      <a:r>
                        <a:rPr sz="1500" b="0">
                          <a:solidFill>
                            <a:srgbClr val="263C5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技术服务、知识产权及持续投入</a:t>
                      </a:r>
                    </a:p>
                    <a:p>
                      <a:r>
                        <a:rPr sz="1500" b="0">
                          <a:solidFill>
                            <a:srgbClr val="263C5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系统交接与扩展实施方案</a:t>
                      </a:r>
                    </a:p>
                  </a:txBody>
                  <a:tcPr marL="91440" marR="91440" marT="45720" marB="45720" anchor="ctr">
                    <a:solidFill>
                      <a:srgbClr val="EFF4F8"/>
                    </a:solidFill>
                  </a:tcPr>
                </a:tc>
              </a:tr>
            </a:tbl>
          </a:graphicData>
        </a:graphic>
      </p:graphicFrame>
      <p:sp>
        <p:nvSpPr>
          <p:cNvPr id="10" name="text-128">
            <a:extLst xmlns:a="http://schemas.openxmlformats.org/drawingml/2006/main">
              <a:ext uri="{FF2B5EF4-FFF2-40B4-BE49-F238E27FC236}">
                <a16:creationId xmlns:a16="http://schemas.microsoft.com/office/drawing/2014/main" id="{2157AE7E-1F64-4B7E-8D30-B69537D66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96050"/>
            <a:ext cx="26860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84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847E"/>
                </a:solidFill>
                <a:latin typeface="Microsoft YaHei"/>
                <a:ea typeface="Microsoft YaHei"/>
                <a:cs typeface="Microsoft YaHei"/>
              </a:rPr>
              <a:t>部署与运行条件</a:t>
            </a:r>
          </a:p>
        </p:txBody>
      </p:sp>
      <p:sp>
        <p:nvSpPr>
          <p:cNvPr id="11" name="text-129">
            <a:extLst xmlns:a="http://schemas.openxmlformats.org/drawingml/2006/main">
              <a:ext uri="{FF2B5EF4-FFF2-40B4-BE49-F238E27FC236}">
                <a16:creationId xmlns:a16="http://schemas.microsoft.com/office/drawing/2014/main" id="{BDBBC68E-30DC-49D2-AB91-DA9F60102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6515100"/>
            <a:ext cx="11277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63C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63C51"/>
                </a:solidFill>
                <a:latin typeface="Microsoft YaHei"/>
                <a:ea typeface="Microsoft YaHei"/>
                <a:cs typeface="Microsoft YaHei"/>
              </a:rPr>
              <a:t>先盘点现有云 / 服务器、网络、设备及运维；确需新增时再确认必要性、费用和责任</a:t>
            </a:r>
          </a:p>
        </p:txBody>
      </p:sp>
      <p:sp>
        <p:nvSpPr>
          <p:cNvPr id="12" name="text-130">
            <a:extLst xmlns:a="http://schemas.openxmlformats.org/drawingml/2006/main">
              <a:ext uri="{FF2B5EF4-FFF2-40B4-BE49-F238E27FC236}">
                <a16:creationId xmlns:a16="http://schemas.microsoft.com/office/drawing/2014/main" id="{C0CFBC0D-F889-4E77-A49E-3A6AB5F46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038975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42F50"/>
                </a:solidFill>
                <a:latin typeface="Microsoft YaHei"/>
                <a:ea typeface="Microsoft YaHei"/>
                <a:cs typeface="Microsoft YaHei"/>
              </a:rPr>
              <a:t>协同机制</a:t>
            </a:r>
          </a:p>
        </p:txBody>
      </p:sp>
      <p:sp>
        <p:nvSpPr>
          <p:cNvPr id="13" name="text-131">
            <a:extLst xmlns:a="http://schemas.openxmlformats.org/drawingml/2006/main">
              <a:ext uri="{FF2B5EF4-FFF2-40B4-BE49-F238E27FC236}">
                <a16:creationId xmlns:a16="http://schemas.microsoft.com/office/drawing/2014/main" id="{91532BEC-54DD-4E51-98B8-C0572C813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7058025"/>
            <a:ext cx="11277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63C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63C51"/>
                </a:solidFill>
                <a:latin typeface="Microsoft YaHei"/>
                <a:ea typeface="Microsoft YaHei"/>
                <a:cs typeface="Microsoft YaHei"/>
              </a:rPr>
              <a:t>联合领导小组协调重大事项；固定联系人跟进问题；专项项目与阶段评审确认范围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2FDF9D-79A3-499B-A1D1-E398D471B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96175"/>
            <a:ext cx="13982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7E0"/>
          </a:solidFill>
          <a:ln xmlns:a="http://schemas.openxmlformats.org/drawingml/2006/main" w="0">
            <a:noFill/>
          </a:ln>
        </p:spPr>
      </p:sp>
      <p:sp>
        <p:nvSpPr>
          <p:cNvPr id="15" name="text-132">
            <a:extLst xmlns:a="http://schemas.openxmlformats.org/drawingml/2006/main">
              <a:ext uri="{FF2B5EF4-FFF2-40B4-BE49-F238E27FC236}">
                <a16:creationId xmlns:a16="http://schemas.microsoft.com/office/drawing/2014/main" id="{572F7755-2B02-4DBC-9E6C-D77740C51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667625"/>
            <a:ext cx="13982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42F50"/>
                </a:solidFill>
                <a:latin typeface="Microsoft YaHei"/>
                <a:ea typeface="Microsoft YaHei"/>
                <a:cs typeface="Microsoft YaHei"/>
              </a:rPr>
              <a:t>本次需形成共识：试点赛事、牵头与运营主体、首期投入、授权路径、验收与评审机制</a:t>
            </a:r>
          </a:p>
        </p:txBody>
      </p:sp>
    </p:spTree>
    <p:extLst>
      <p:ext uri="{BB962C8B-B14F-4D97-AF65-F5344CB8AC3E}">
        <p14:creationId xmlns:p14="http://schemas.microsoft.com/office/powerpoint/2010/main" val="17025690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2026-09-28T10:22:11.9370000Z</dcterms:created>
  <dcterms:modified xsi:type="dcterms:W3CDTF">2026-09-28T10:22:11.9370000Z</dcterms:modified>
</coreProperties>
</file>